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098" autoAdjust="0"/>
  </p:normalViewPr>
  <p:slideViewPr>
    <p:cSldViewPr snapToGrid="0">
      <p:cViewPr varScale="1">
        <p:scale>
          <a:sx n="70" d="100"/>
          <a:sy n="70" d="100"/>
        </p:scale>
        <p:origin x="113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FB5BDF-2B2C-427A-B906-E253BA65C185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5A466C2-EC53-485A-A098-79BCD62D593B}">
      <dgm:prSet/>
      <dgm:spPr/>
      <dgm:t>
        <a:bodyPr/>
        <a:lstStyle/>
        <a:p>
          <a:r>
            <a:rPr lang="hu-HU"/>
            <a:t>Mérési adatok</a:t>
          </a:r>
          <a:endParaRPr lang="en-US"/>
        </a:p>
      </dgm:t>
    </dgm:pt>
    <dgm:pt modelId="{3CBA5308-AB3C-4D31-AAD6-15B1F590CA86}" type="parTrans" cxnId="{E681E36D-F2AE-4A78-82D5-51BCD8B09978}">
      <dgm:prSet/>
      <dgm:spPr/>
      <dgm:t>
        <a:bodyPr/>
        <a:lstStyle/>
        <a:p>
          <a:endParaRPr lang="en-US"/>
        </a:p>
      </dgm:t>
    </dgm:pt>
    <dgm:pt modelId="{35825ED4-5E10-475C-A670-D1B0C1A74417}" type="sibTrans" cxnId="{E681E36D-F2AE-4A78-82D5-51BCD8B09978}">
      <dgm:prSet/>
      <dgm:spPr/>
      <dgm:t>
        <a:bodyPr/>
        <a:lstStyle/>
        <a:p>
          <a:endParaRPr lang="en-US"/>
        </a:p>
      </dgm:t>
    </dgm:pt>
    <dgm:pt modelId="{74BA7827-F977-4752-9FFF-F62401101520}">
      <dgm:prSet/>
      <dgm:spPr/>
      <dgm:t>
        <a:bodyPr/>
        <a:lstStyle/>
        <a:p>
          <a:r>
            <a:rPr lang="hu-HU"/>
            <a:t>Próbafüggvények</a:t>
          </a:r>
          <a:endParaRPr lang="en-US"/>
        </a:p>
      </dgm:t>
    </dgm:pt>
    <dgm:pt modelId="{5A62E2C1-AB08-4626-AD26-65BC8B133F08}" type="parTrans" cxnId="{8B9B795B-B1F9-4F6E-A3BE-68501842DF63}">
      <dgm:prSet/>
      <dgm:spPr/>
      <dgm:t>
        <a:bodyPr/>
        <a:lstStyle/>
        <a:p>
          <a:endParaRPr lang="en-US"/>
        </a:p>
      </dgm:t>
    </dgm:pt>
    <dgm:pt modelId="{31EEDEB6-F99E-4CFB-BF4A-1522102C4C3A}" type="sibTrans" cxnId="{8B9B795B-B1F9-4F6E-A3BE-68501842DF63}">
      <dgm:prSet/>
      <dgm:spPr/>
      <dgm:t>
        <a:bodyPr/>
        <a:lstStyle/>
        <a:p>
          <a:endParaRPr lang="en-US"/>
        </a:p>
      </dgm:t>
    </dgm:pt>
    <dgm:pt modelId="{979C85E8-1D5B-46C0-84FD-76C4FA306EE8}">
      <dgm:prSet/>
      <dgm:spPr/>
      <dgm:t>
        <a:bodyPr/>
        <a:lstStyle/>
        <a:p>
          <a:r>
            <a:rPr lang="hu-HU" dirty="0"/>
            <a:t>Sparse regresszió</a:t>
          </a:r>
          <a:endParaRPr lang="en-US" dirty="0"/>
        </a:p>
      </dgm:t>
    </dgm:pt>
    <dgm:pt modelId="{A3F9E302-1016-4938-ADF9-A41B37386919}" type="parTrans" cxnId="{18678412-BCC0-4472-8734-7821F072B012}">
      <dgm:prSet/>
      <dgm:spPr/>
      <dgm:t>
        <a:bodyPr/>
        <a:lstStyle/>
        <a:p>
          <a:endParaRPr lang="en-US"/>
        </a:p>
      </dgm:t>
    </dgm:pt>
    <dgm:pt modelId="{7CF979FB-3D1D-485A-B335-5BBE9EC0D8B9}" type="sibTrans" cxnId="{18678412-BCC0-4472-8734-7821F072B012}">
      <dgm:prSet/>
      <dgm:spPr/>
      <dgm:t>
        <a:bodyPr/>
        <a:lstStyle/>
        <a:p>
          <a:endParaRPr lang="en-US"/>
        </a:p>
      </dgm:t>
    </dgm:pt>
    <dgm:pt modelId="{D5D9492E-4AF2-4833-9F8C-65B942919B68}">
      <dgm:prSet/>
      <dgm:spPr/>
      <dgm:t>
        <a:bodyPr/>
        <a:lstStyle/>
        <a:p>
          <a:r>
            <a:rPr lang="hu-HU"/>
            <a:t>Azonosított egyenlet</a:t>
          </a:r>
          <a:endParaRPr lang="en-US"/>
        </a:p>
      </dgm:t>
    </dgm:pt>
    <dgm:pt modelId="{4CBABBC9-6B12-4D27-9DD7-B231C9720524}" type="parTrans" cxnId="{740B1D82-E73B-4B16-8FA8-945B361A46F9}">
      <dgm:prSet/>
      <dgm:spPr/>
      <dgm:t>
        <a:bodyPr/>
        <a:lstStyle/>
        <a:p>
          <a:endParaRPr lang="en-US"/>
        </a:p>
      </dgm:t>
    </dgm:pt>
    <dgm:pt modelId="{2161C262-5D76-4682-A442-43E0170A8C58}" type="sibTrans" cxnId="{740B1D82-E73B-4B16-8FA8-945B361A46F9}">
      <dgm:prSet/>
      <dgm:spPr/>
      <dgm:t>
        <a:bodyPr/>
        <a:lstStyle/>
        <a:p>
          <a:endParaRPr lang="en-US"/>
        </a:p>
      </dgm:t>
    </dgm:pt>
    <dgm:pt modelId="{1C1D97BC-A322-48FA-80B8-80CD2DC2B0CD}" type="pres">
      <dgm:prSet presAssocID="{85FB5BDF-2B2C-427A-B906-E253BA65C18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A5FC8E0-F873-4223-9A8F-2D80D84A68B6}" type="pres">
      <dgm:prSet presAssocID="{A5A466C2-EC53-485A-A098-79BCD62D593B}" presName="hierRoot1" presStyleCnt="0"/>
      <dgm:spPr/>
    </dgm:pt>
    <dgm:pt modelId="{A3275BBC-FB36-4328-A09D-546A1490F594}" type="pres">
      <dgm:prSet presAssocID="{A5A466C2-EC53-485A-A098-79BCD62D593B}" presName="composite" presStyleCnt="0"/>
      <dgm:spPr/>
    </dgm:pt>
    <dgm:pt modelId="{CEDD09ED-D601-45E8-AB19-130B9EF12D99}" type="pres">
      <dgm:prSet presAssocID="{A5A466C2-EC53-485A-A098-79BCD62D593B}" presName="background" presStyleLbl="node0" presStyleIdx="0" presStyleCnt="4"/>
      <dgm:spPr/>
    </dgm:pt>
    <dgm:pt modelId="{05540A49-ACC9-4298-90C2-3746DB349090}" type="pres">
      <dgm:prSet presAssocID="{A5A466C2-EC53-485A-A098-79BCD62D593B}" presName="text" presStyleLbl="fgAcc0" presStyleIdx="0" presStyleCnt="4">
        <dgm:presLayoutVars>
          <dgm:chPref val="3"/>
        </dgm:presLayoutVars>
      </dgm:prSet>
      <dgm:spPr/>
    </dgm:pt>
    <dgm:pt modelId="{551429B2-41C1-4DE7-BA47-6A635570A58B}" type="pres">
      <dgm:prSet presAssocID="{A5A466C2-EC53-485A-A098-79BCD62D593B}" presName="hierChild2" presStyleCnt="0"/>
      <dgm:spPr/>
    </dgm:pt>
    <dgm:pt modelId="{79FDE608-93B1-44F5-A575-498DF809F73C}" type="pres">
      <dgm:prSet presAssocID="{74BA7827-F977-4752-9FFF-F62401101520}" presName="hierRoot1" presStyleCnt="0"/>
      <dgm:spPr/>
    </dgm:pt>
    <dgm:pt modelId="{C48D8266-502A-4467-895E-62D8A9A93DEC}" type="pres">
      <dgm:prSet presAssocID="{74BA7827-F977-4752-9FFF-F62401101520}" presName="composite" presStyleCnt="0"/>
      <dgm:spPr/>
    </dgm:pt>
    <dgm:pt modelId="{CF6B77AD-48A7-4FD5-9DD6-9AE6FA7810C1}" type="pres">
      <dgm:prSet presAssocID="{74BA7827-F977-4752-9FFF-F62401101520}" presName="background" presStyleLbl="node0" presStyleIdx="1" presStyleCnt="4"/>
      <dgm:spPr/>
    </dgm:pt>
    <dgm:pt modelId="{80D42121-96A2-4F5E-9BEA-AB3ABDF38014}" type="pres">
      <dgm:prSet presAssocID="{74BA7827-F977-4752-9FFF-F62401101520}" presName="text" presStyleLbl="fgAcc0" presStyleIdx="1" presStyleCnt="4">
        <dgm:presLayoutVars>
          <dgm:chPref val="3"/>
        </dgm:presLayoutVars>
      </dgm:prSet>
      <dgm:spPr/>
    </dgm:pt>
    <dgm:pt modelId="{B9CEBA3B-59A2-4B24-B618-F473D1FF6A13}" type="pres">
      <dgm:prSet presAssocID="{74BA7827-F977-4752-9FFF-F62401101520}" presName="hierChild2" presStyleCnt="0"/>
      <dgm:spPr/>
    </dgm:pt>
    <dgm:pt modelId="{39E67BFC-4A53-4E3C-B228-B692BBC55418}" type="pres">
      <dgm:prSet presAssocID="{979C85E8-1D5B-46C0-84FD-76C4FA306EE8}" presName="hierRoot1" presStyleCnt="0"/>
      <dgm:spPr/>
    </dgm:pt>
    <dgm:pt modelId="{66A289CB-4FC1-4CD0-88A2-86F1ACAD0AB9}" type="pres">
      <dgm:prSet presAssocID="{979C85E8-1D5B-46C0-84FD-76C4FA306EE8}" presName="composite" presStyleCnt="0"/>
      <dgm:spPr/>
    </dgm:pt>
    <dgm:pt modelId="{079F4BD8-A849-4326-99D3-64D2468E6701}" type="pres">
      <dgm:prSet presAssocID="{979C85E8-1D5B-46C0-84FD-76C4FA306EE8}" presName="background" presStyleLbl="node0" presStyleIdx="2" presStyleCnt="4"/>
      <dgm:spPr/>
    </dgm:pt>
    <dgm:pt modelId="{D7079BBA-8C64-4A0E-BD4A-CE38A65DF78A}" type="pres">
      <dgm:prSet presAssocID="{979C85E8-1D5B-46C0-84FD-76C4FA306EE8}" presName="text" presStyleLbl="fgAcc0" presStyleIdx="2" presStyleCnt="4">
        <dgm:presLayoutVars>
          <dgm:chPref val="3"/>
        </dgm:presLayoutVars>
      </dgm:prSet>
      <dgm:spPr/>
    </dgm:pt>
    <dgm:pt modelId="{66B12CE6-5A3B-40CB-8B1A-D4498B598AA5}" type="pres">
      <dgm:prSet presAssocID="{979C85E8-1D5B-46C0-84FD-76C4FA306EE8}" presName="hierChild2" presStyleCnt="0"/>
      <dgm:spPr/>
    </dgm:pt>
    <dgm:pt modelId="{FACAB6E0-8E73-4818-ADB5-BA009B95CAE9}" type="pres">
      <dgm:prSet presAssocID="{D5D9492E-4AF2-4833-9F8C-65B942919B68}" presName="hierRoot1" presStyleCnt="0"/>
      <dgm:spPr/>
    </dgm:pt>
    <dgm:pt modelId="{8E3CB7E0-F2E2-421B-BB9E-04F3521732FC}" type="pres">
      <dgm:prSet presAssocID="{D5D9492E-4AF2-4833-9F8C-65B942919B68}" presName="composite" presStyleCnt="0"/>
      <dgm:spPr/>
    </dgm:pt>
    <dgm:pt modelId="{B9FFB45E-5C61-4F45-8D6E-3C6FBEA386E5}" type="pres">
      <dgm:prSet presAssocID="{D5D9492E-4AF2-4833-9F8C-65B942919B68}" presName="background" presStyleLbl="node0" presStyleIdx="3" presStyleCnt="4"/>
      <dgm:spPr/>
    </dgm:pt>
    <dgm:pt modelId="{BD921515-103B-4925-8A5A-C9E9ED31B969}" type="pres">
      <dgm:prSet presAssocID="{D5D9492E-4AF2-4833-9F8C-65B942919B68}" presName="text" presStyleLbl="fgAcc0" presStyleIdx="3" presStyleCnt="4">
        <dgm:presLayoutVars>
          <dgm:chPref val="3"/>
        </dgm:presLayoutVars>
      </dgm:prSet>
      <dgm:spPr/>
    </dgm:pt>
    <dgm:pt modelId="{6D5EEE63-BDDC-4FB1-B16D-C40AC27E4A0E}" type="pres">
      <dgm:prSet presAssocID="{D5D9492E-4AF2-4833-9F8C-65B942919B68}" presName="hierChild2" presStyleCnt="0"/>
      <dgm:spPr/>
    </dgm:pt>
  </dgm:ptLst>
  <dgm:cxnLst>
    <dgm:cxn modelId="{18678412-BCC0-4472-8734-7821F072B012}" srcId="{85FB5BDF-2B2C-427A-B906-E253BA65C185}" destId="{979C85E8-1D5B-46C0-84FD-76C4FA306EE8}" srcOrd="2" destOrd="0" parTransId="{A3F9E302-1016-4938-ADF9-A41B37386919}" sibTransId="{7CF979FB-3D1D-485A-B335-5BBE9EC0D8B9}"/>
    <dgm:cxn modelId="{8B9B795B-B1F9-4F6E-A3BE-68501842DF63}" srcId="{85FB5BDF-2B2C-427A-B906-E253BA65C185}" destId="{74BA7827-F977-4752-9FFF-F62401101520}" srcOrd="1" destOrd="0" parTransId="{5A62E2C1-AB08-4626-AD26-65BC8B133F08}" sibTransId="{31EEDEB6-F99E-4CFB-BF4A-1522102C4C3A}"/>
    <dgm:cxn modelId="{F1566469-FF2D-4414-80E0-6CC236BDADD8}" type="presOf" srcId="{979C85E8-1D5B-46C0-84FD-76C4FA306EE8}" destId="{D7079BBA-8C64-4A0E-BD4A-CE38A65DF78A}" srcOrd="0" destOrd="0" presId="urn:microsoft.com/office/officeart/2005/8/layout/hierarchy1"/>
    <dgm:cxn modelId="{E681E36D-F2AE-4A78-82D5-51BCD8B09978}" srcId="{85FB5BDF-2B2C-427A-B906-E253BA65C185}" destId="{A5A466C2-EC53-485A-A098-79BCD62D593B}" srcOrd="0" destOrd="0" parTransId="{3CBA5308-AB3C-4D31-AAD6-15B1F590CA86}" sibTransId="{35825ED4-5E10-475C-A670-D1B0C1A74417}"/>
    <dgm:cxn modelId="{861C347F-FAAD-4F42-9770-FFFE766E4C9F}" type="presOf" srcId="{D5D9492E-4AF2-4833-9F8C-65B942919B68}" destId="{BD921515-103B-4925-8A5A-C9E9ED31B969}" srcOrd="0" destOrd="0" presId="urn:microsoft.com/office/officeart/2005/8/layout/hierarchy1"/>
    <dgm:cxn modelId="{740B1D82-E73B-4B16-8FA8-945B361A46F9}" srcId="{85FB5BDF-2B2C-427A-B906-E253BA65C185}" destId="{D5D9492E-4AF2-4833-9F8C-65B942919B68}" srcOrd="3" destOrd="0" parTransId="{4CBABBC9-6B12-4D27-9DD7-B231C9720524}" sibTransId="{2161C262-5D76-4682-A442-43E0170A8C58}"/>
    <dgm:cxn modelId="{BA559086-8F54-4E5A-BAA8-F5A294DA5235}" type="presOf" srcId="{74BA7827-F977-4752-9FFF-F62401101520}" destId="{80D42121-96A2-4F5E-9BEA-AB3ABDF38014}" srcOrd="0" destOrd="0" presId="urn:microsoft.com/office/officeart/2005/8/layout/hierarchy1"/>
    <dgm:cxn modelId="{37CD98AA-5AF5-42CC-A149-BE2E27841C09}" type="presOf" srcId="{85FB5BDF-2B2C-427A-B906-E253BA65C185}" destId="{1C1D97BC-A322-48FA-80B8-80CD2DC2B0CD}" srcOrd="0" destOrd="0" presId="urn:microsoft.com/office/officeart/2005/8/layout/hierarchy1"/>
    <dgm:cxn modelId="{AB0D72DC-31DB-4015-B795-989FC70625F4}" type="presOf" srcId="{A5A466C2-EC53-485A-A098-79BCD62D593B}" destId="{05540A49-ACC9-4298-90C2-3746DB349090}" srcOrd="0" destOrd="0" presId="urn:microsoft.com/office/officeart/2005/8/layout/hierarchy1"/>
    <dgm:cxn modelId="{DF4E628F-65AA-41CF-8742-65CCA3890F06}" type="presParOf" srcId="{1C1D97BC-A322-48FA-80B8-80CD2DC2B0CD}" destId="{6A5FC8E0-F873-4223-9A8F-2D80D84A68B6}" srcOrd="0" destOrd="0" presId="urn:microsoft.com/office/officeart/2005/8/layout/hierarchy1"/>
    <dgm:cxn modelId="{9EE4F774-4C92-4163-8810-89A958FC01B9}" type="presParOf" srcId="{6A5FC8E0-F873-4223-9A8F-2D80D84A68B6}" destId="{A3275BBC-FB36-4328-A09D-546A1490F594}" srcOrd="0" destOrd="0" presId="urn:microsoft.com/office/officeart/2005/8/layout/hierarchy1"/>
    <dgm:cxn modelId="{10020ED8-5DD3-428E-9087-739E22467B3C}" type="presParOf" srcId="{A3275BBC-FB36-4328-A09D-546A1490F594}" destId="{CEDD09ED-D601-45E8-AB19-130B9EF12D99}" srcOrd="0" destOrd="0" presId="urn:microsoft.com/office/officeart/2005/8/layout/hierarchy1"/>
    <dgm:cxn modelId="{C6D99949-3864-4615-8B5A-26AE6CAAD3E6}" type="presParOf" srcId="{A3275BBC-FB36-4328-A09D-546A1490F594}" destId="{05540A49-ACC9-4298-90C2-3746DB349090}" srcOrd="1" destOrd="0" presId="urn:microsoft.com/office/officeart/2005/8/layout/hierarchy1"/>
    <dgm:cxn modelId="{A92A25A4-D737-4D7D-B51E-F357DF0D6FC2}" type="presParOf" srcId="{6A5FC8E0-F873-4223-9A8F-2D80D84A68B6}" destId="{551429B2-41C1-4DE7-BA47-6A635570A58B}" srcOrd="1" destOrd="0" presId="urn:microsoft.com/office/officeart/2005/8/layout/hierarchy1"/>
    <dgm:cxn modelId="{B65DF58A-1334-47D1-85EF-F462AB3712CE}" type="presParOf" srcId="{1C1D97BC-A322-48FA-80B8-80CD2DC2B0CD}" destId="{79FDE608-93B1-44F5-A575-498DF809F73C}" srcOrd="1" destOrd="0" presId="urn:microsoft.com/office/officeart/2005/8/layout/hierarchy1"/>
    <dgm:cxn modelId="{E6CC6B5D-67D2-4648-95E0-4F87EBE0D344}" type="presParOf" srcId="{79FDE608-93B1-44F5-A575-498DF809F73C}" destId="{C48D8266-502A-4467-895E-62D8A9A93DEC}" srcOrd="0" destOrd="0" presId="urn:microsoft.com/office/officeart/2005/8/layout/hierarchy1"/>
    <dgm:cxn modelId="{2FDE6230-CDC5-401C-96F4-A6694BE5B68A}" type="presParOf" srcId="{C48D8266-502A-4467-895E-62D8A9A93DEC}" destId="{CF6B77AD-48A7-4FD5-9DD6-9AE6FA7810C1}" srcOrd="0" destOrd="0" presId="urn:microsoft.com/office/officeart/2005/8/layout/hierarchy1"/>
    <dgm:cxn modelId="{621010A8-2DFA-4216-80D0-EC1E5CBFE084}" type="presParOf" srcId="{C48D8266-502A-4467-895E-62D8A9A93DEC}" destId="{80D42121-96A2-4F5E-9BEA-AB3ABDF38014}" srcOrd="1" destOrd="0" presId="urn:microsoft.com/office/officeart/2005/8/layout/hierarchy1"/>
    <dgm:cxn modelId="{B5974530-8D85-48C4-A30F-6FDACED8806B}" type="presParOf" srcId="{79FDE608-93B1-44F5-A575-498DF809F73C}" destId="{B9CEBA3B-59A2-4B24-B618-F473D1FF6A13}" srcOrd="1" destOrd="0" presId="urn:microsoft.com/office/officeart/2005/8/layout/hierarchy1"/>
    <dgm:cxn modelId="{9C3530A5-154C-475C-AE79-30BA44903A14}" type="presParOf" srcId="{1C1D97BC-A322-48FA-80B8-80CD2DC2B0CD}" destId="{39E67BFC-4A53-4E3C-B228-B692BBC55418}" srcOrd="2" destOrd="0" presId="urn:microsoft.com/office/officeart/2005/8/layout/hierarchy1"/>
    <dgm:cxn modelId="{612A3B8C-E652-452B-A8C2-93F9D50DB785}" type="presParOf" srcId="{39E67BFC-4A53-4E3C-B228-B692BBC55418}" destId="{66A289CB-4FC1-4CD0-88A2-86F1ACAD0AB9}" srcOrd="0" destOrd="0" presId="urn:microsoft.com/office/officeart/2005/8/layout/hierarchy1"/>
    <dgm:cxn modelId="{9ACB7D52-69BB-4A1E-9C7C-18BDC6F80CA1}" type="presParOf" srcId="{66A289CB-4FC1-4CD0-88A2-86F1ACAD0AB9}" destId="{079F4BD8-A849-4326-99D3-64D2468E6701}" srcOrd="0" destOrd="0" presId="urn:microsoft.com/office/officeart/2005/8/layout/hierarchy1"/>
    <dgm:cxn modelId="{11E8E1D3-B387-4B86-93EA-6E85E825407D}" type="presParOf" srcId="{66A289CB-4FC1-4CD0-88A2-86F1ACAD0AB9}" destId="{D7079BBA-8C64-4A0E-BD4A-CE38A65DF78A}" srcOrd="1" destOrd="0" presId="urn:microsoft.com/office/officeart/2005/8/layout/hierarchy1"/>
    <dgm:cxn modelId="{A9972997-F2EA-490F-B999-F564AAA5CB93}" type="presParOf" srcId="{39E67BFC-4A53-4E3C-B228-B692BBC55418}" destId="{66B12CE6-5A3B-40CB-8B1A-D4498B598AA5}" srcOrd="1" destOrd="0" presId="urn:microsoft.com/office/officeart/2005/8/layout/hierarchy1"/>
    <dgm:cxn modelId="{5C068923-88AB-4979-B7ED-DAE93EFE5C3F}" type="presParOf" srcId="{1C1D97BC-A322-48FA-80B8-80CD2DC2B0CD}" destId="{FACAB6E0-8E73-4818-ADB5-BA009B95CAE9}" srcOrd="3" destOrd="0" presId="urn:microsoft.com/office/officeart/2005/8/layout/hierarchy1"/>
    <dgm:cxn modelId="{AD5A226F-5D72-4905-8F5B-7C96EA7CB986}" type="presParOf" srcId="{FACAB6E0-8E73-4818-ADB5-BA009B95CAE9}" destId="{8E3CB7E0-F2E2-421B-BB9E-04F3521732FC}" srcOrd="0" destOrd="0" presId="urn:microsoft.com/office/officeart/2005/8/layout/hierarchy1"/>
    <dgm:cxn modelId="{25299CCC-16E0-4F9D-84D1-D742BC6502B1}" type="presParOf" srcId="{8E3CB7E0-F2E2-421B-BB9E-04F3521732FC}" destId="{B9FFB45E-5C61-4F45-8D6E-3C6FBEA386E5}" srcOrd="0" destOrd="0" presId="urn:microsoft.com/office/officeart/2005/8/layout/hierarchy1"/>
    <dgm:cxn modelId="{CF91ACCD-ACCF-4ED4-BB45-3F1F4A128D14}" type="presParOf" srcId="{8E3CB7E0-F2E2-421B-BB9E-04F3521732FC}" destId="{BD921515-103B-4925-8A5A-C9E9ED31B969}" srcOrd="1" destOrd="0" presId="urn:microsoft.com/office/officeart/2005/8/layout/hierarchy1"/>
    <dgm:cxn modelId="{B6447F93-5CE8-4933-AEDD-517F6E005F4D}" type="presParOf" srcId="{FACAB6E0-8E73-4818-ADB5-BA009B95CAE9}" destId="{6D5EEE63-BDDC-4FB1-B16D-C40AC27E4A0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205FD7-BCBD-4005-AD4E-B9C4036909B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10195E-3052-43C3-8824-2CA6BBA5E0CC}">
      <dgm:prSet/>
      <dgm:spPr/>
      <dgm:t>
        <a:bodyPr/>
        <a:lstStyle/>
        <a:p>
          <a:r>
            <a:rPr lang="hu-HU"/>
            <a:t>Egyszerű lineáris rendszer</a:t>
          </a:r>
          <a:endParaRPr lang="en-US"/>
        </a:p>
      </dgm:t>
    </dgm:pt>
    <dgm:pt modelId="{F7F08726-761B-4904-AD23-F9603EF86E89}" type="parTrans" cxnId="{3B8C105A-7C77-4EFE-811C-1C07DDDA21E0}">
      <dgm:prSet/>
      <dgm:spPr/>
      <dgm:t>
        <a:bodyPr/>
        <a:lstStyle/>
        <a:p>
          <a:endParaRPr lang="en-US"/>
        </a:p>
      </dgm:t>
    </dgm:pt>
    <dgm:pt modelId="{B764A442-6AE2-451E-9D3C-2EEB797D63F5}" type="sibTrans" cxnId="{3B8C105A-7C77-4EFE-811C-1C07DDDA21E0}">
      <dgm:prSet/>
      <dgm:spPr/>
      <dgm:t>
        <a:bodyPr/>
        <a:lstStyle/>
        <a:p>
          <a:endParaRPr lang="en-US"/>
        </a:p>
      </dgm:t>
    </dgm:pt>
    <dgm:pt modelId="{47AB023F-A217-4820-BF2B-4047020603E0}">
      <dgm:prSet/>
      <dgm:spPr/>
      <dgm:t>
        <a:bodyPr/>
        <a:lstStyle/>
        <a:p>
          <a:r>
            <a:rPr lang="hu-HU"/>
            <a:t>Jól ismert fizikai modell</a:t>
          </a:r>
          <a:endParaRPr lang="en-US"/>
        </a:p>
      </dgm:t>
    </dgm:pt>
    <dgm:pt modelId="{A7461C51-F7C3-4808-9290-7C3A7A03730C}" type="parTrans" cxnId="{94F50612-6B9E-4DD3-A45B-A601BFF000A0}">
      <dgm:prSet/>
      <dgm:spPr/>
      <dgm:t>
        <a:bodyPr/>
        <a:lstStyle/>
        <a:p>
          <a:endParaRPr lang="en-US"/>
        </a:p>
      </dgm:t>
    </dgm:pt>
    <dgm:pt modelId="{D261F55B-1EAA-40A8-BB93-8B9B26829822}" type="sibTrans" cxnId="{94F50612-6B9E-4DD3-A45B-A601BFF000A0}">
      <dgm:prSet/>
      <dgm:spPr/>
      <dgm:t>
        <a:bodyPr/>
        <a:lstStyle/>
        <a:p>
          <a:endParaRPr lang="en-US"/>
        </a:p>
      </dgm:t>
    </dgm:pt>
    <dgm:pt modelId="{A1D48708-5B23-4073-A927-BFB8C82D1BD3}">
      <dgm:prSet/>
      <dgm:spPr/>
      <dgm:t>
        <a:bodyPr/>
        <a:lstStyle/>
        <a:p>
          <a:r>
            <a:rPr lang="hu-HU"/>
            <a:t>Pozíció „mérés”</a:t>
          </a:r>
          <a:endParaRPr lang="en-US"/>
        </a:p>
      </dgm:t>
    </dgm:pt>
    <dgm:pt modelId="{66F288AB-B93E-45B1-AE26-1E5AE816707B}" type="parTrans" cxnId="{39095EA7-3F6E-4325-910E-595CA899F125}">
      <dgm:prSet/>
      <dgm:spPr/>
      <dgm:t>
        <a:bodyPr/>
        <a:lstStyle/>
        <a:p>
          <a:endParaRPr lang="en-US"/>
        </a:p>
      </dgm:t>
    </dgm:pt>
    <dgm:pt modelId="{B776DB61-6641-4F52-9C3F-3F4E1C1F74B6}" type="sibTrans" cxnId="{39095EA7-3F6E-4325-910E-595CA899F125}">
      <dgm:prSet/>
      <dgm:spPr/>
      <dgm:t>
        <a:bodyPr/>
        <a:lstStyle/>
        <a:p>
          <a:endParaRPr lang="en-US"/>
        </a:p>
      </dgm:t>
    </dgm:pt>
    <dgm:pt modelId="{93D1EA9B-86C2-496D-8287-91348350225F}">
      <dgm:prSet/>
      <dgm:spPr/>
      <dgm:t>
        <a:bodyPr/>
        <a:lstStyle/>
        <a:p>
          <a:r>
            <a:rPr lang="hu-HU" dirty="0"/>
            <a:t>Sebesség és gyorsulás numerikus deriválással</a:t>
          </a:r>
          <a:endParaRPr lang="en-US" dirty="0"/>
        </a:p>
      </dgm:t>
    </dgm:pt>
    <dgm:pt modelId="{DD5CB036-6E6E-42C0-BDD0-F8DF29141F92}" type="parTrans" cxnId="{FF1D9822-3B70-4CCC-982D-402385059B1E}">
      <dgm:prSet/>
      <dgm:spPr/>
      <dgm:t>
        <a:bodyPr/>
        <a:lstStyle/>
        <a:p>
          <a:endParaRPr lang="en-US"/>
        </a:p>
      </dgm:t>
    </dgm:pt>
    <dgm:pt modelId="{B14919DD-A9EE-442A-A098-A56728D0C810}" type="sibTrans" cxnId="{FF1D9822-3B70-4CCC-982D-402385059B1E}">
      <dgm:prSet/>
      <dgm:spPr/>
      <dgm:t>
        <a:bodyPr/>
        <a:lstStyle/>
        <a:p>
          <a:endParaRPr lang="en-US"/>
        </a:p>
      </dgm:t>
    </dgm:pt>
    <dgm:pt modelId="{B9C70A57-2409-4035-9CA6-B923F3105229}" type="pres">
      <dgm:prSet presAssocID="{40205FD7-BCBD-4005-AD4E-B9C4036909BE}" presName="Name0" presStyleCnt="0">
        <dgm:presLayoutVars>
          <dgm:dir/>
          <dgm:animLvl val="lvl"/>
          <dgm:resizeHandles val="exact"/>
        </dgm:presLayoutVars>
      </dgm:prSet>
      <dgm:spPr/>
    </dgm:pt>
    <dgm:pt modelId="{850FC2B6-982B-418B-A1B0-B941A5F13CA9}" type="pres">
      <dgm:prSet presAssocID="{7F10195E-3052-43C3-8824-2CA6BBA5E0CC}" presName="linNode" presStyleCnt="0"/>
      <dgm:spPr/>
    </dgm:pt>
    <dgm:pt modelId="{543F71FC-7C19-4746-B772-F2AB2202A51B}" type="pres">
      <dgm:prSet presAssocID="{7F10195E-3052-43C3-8824-2CA6BBA5E0CC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5AE23CD5-FA3A-4E27-AC5A-D83A3D1F017E}" type="pres">
      <dgm:prSet presAssocID="{B764A442-6AE2-451E-9D3C-2EEB797D63F5}" presName="sp" presStyleCnt="0"/>
      <dgm:spPr/>
    </dgm:pt>
    <dgm:pt modelId="{363877F3-E25F-4E4C-9AC0-F12ADFE6C4AD}" type="pres">
      <dgm:prSet presAssocID="{47AB023F-A217-4820-BF2B-4047020603E0}" presName="linNode" presStyleCnt="0"/>
      <dgm:spPr/>
    </dgm:pt>
    <dgm:pt modelId="{B50BAC6A-A066-4AEC-8F44-8D932F664B08}" type="pres">
      <dgm:prSet presAssocID="{47AB023F-A217-4820-BF2B-4047020603E0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22A9F13A-DB32-407E-AC7A-03AEFE06AE60}" type="pres">
      <dgm:prSet presAssocID="{D261F55B-1EAA-40A8-BB93-8B9B26829822}" presName="sp" presStyleCnt="0"/>
      <dgm:spPr/>
    </dgm:pt>
    <dgm:pt modelId="{A560C415-8BE6-4FB0-93DD-BDA5BB538320}" type="pres">
      <dgm:prSet presAssocID="{A1D48708-5B23-4073-A927-BFB8C82D1BD3}" presName="linNode" presStyleCnt="0"/>
      <dgm:spPr/>
    </dgm:pt>
    <dgm:pt modelId="{78935658-5B34-4019-8BB7-C6CE61C275DC}" type="pres">
      <dgm:prSet presAssocID="{A1D48708-5B23-4073-A927-BFB8C82D1BD3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59E8EA2F-53F4-45EC-81AB-0E55C02D54BF}" type="pres">
      <dgm:prSet presAssocID="{B776DB61-6641-4F52-9C3F-3F4E1C1F74B6}" presName="sp" presStyleCnt="0"/>
      <dgm:spPr/>
    </dgm:pt>
    <dgm:pt modelId="{FC614799-CC5F-44F2-A432-9C048C048CC2}" type="pres">
      <dgm:prSet presAssocID="{93D1EA9B-86C2-496D-8287-91348350225F}" presName="linNode" presStyleCnt="0"/>
      <dgm:spPr/>
    </dgm:pt>
    <dgm:pt modelId="{76DB960A-BD1F-4FB5-85AE-6BACD2D9848D}" type="pres">
      <dgm:prSet presAssocID="{93D1EA9B-86C2-496D-8287-91348350225F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8D96F804-BE45-4B80-AD77-FA5F8D2C3490}" type="presOf" srcId="{40205FD7-BCBD-4005-AD4E-B9C4036909BE}" destId="{B9C70A57-2409-4035-9CA6-B923F3105229}" srcOrd="0" destOrd="0" presId="urn:microsoft.com/office/officeart/2005/8/layout/vList5"/>
    <dgm:cxn modelId="{03256509-0736-4335-AC5C-A4388D7A30C8}" type="presOf" srcId="{7F10195E-3052-43C3-8824-2CA6BBA5E0CC}" destId="{543F71FC-7C19-4746-B772-F2AB2202A51B}" srcOrd="0" destOrd="0" presId="urn:microsoft.com/office/officeart/2005/8/layout/vList5"/>
    <dgm:cxn modelId="{94F50612-6B9E-4DD3-A45B-A601BFF000A0}" srcId="{40205FD7-BCBD-4005-AD4E-B9C4036909BE}" destId="{47AB023F-A217-4820-BF2B-4047020603E0}" srcOrd="1" destOrd="0" parTransId="{A7461C51-F7C3-4808-9290-7C3A7A03730C}" sibTransId="{D261F55B-1EAA-40A8-BB93-8B9B26829822}"/>
    <dgm:cxn modelId="{FF1D9822-3B70-4CCC-982D-402385059B1E}" srcId="{40205FD7-BCBD-4005-AD4E-B9C4036909BE}" destId="{93D1EA9B-86C2-496D-8287-91348350225F}" srcOrd="3" destOrd="0" parTransId="{DD5CB036-6E6E-42C0-BDD0-F8DF29141F92}" sibTransId="{B14919DD-A9EE-442A-A098-A56728D0C810}"/>
    <dgm:cxn modelId="{6560A636-00C9-44B5-95CD-B2236DA7D51E}" type="presOf" srcId="{93D1EA9B-86C2-496D-8287-91348350225F}" destId="{76DB960A-BD1F-4FB5-85AE-6BACD2D9848D}" srcOrd="0" destOrd="0" presId="urn:microsoft.com/office/officeart/2005/8/layout/vList5"/>
    <dgm:cxn modelId="{3B8C105A-7C77-4EFE-811C-1C07DDDA21E0}" srcId="{40205FD7-BCBD-4005-AD4E-B9C4036909BE}" destId="{7F10195E-3052-43C3-8824-2CA6BBA5E0CC}" srcOrd="0" destOrd="0" parTransId="{F7F08726-761B-4904-AD23-F9603EF86E89}" sibTransId="{B764A442-6AE2-451E-9D3C-2EEB797D63F5}"/>
    <dgm:cxn modelId="{59ACA296-BA3B-4745-8770-E536DAA4646A}" type="presOf" srcId="{A1D48708-5B23-4073-A927-BFB8C82D1BD3}" destId="{78935658-5B34-4019-8BB7-C6CE61C275DC}" srcOrd="0" destOrd="0" presId="urn:microsoft.com/office/officeart/2005/8/layout/vList5"/>
    <dgm:cxn modelId="{39095EA7-3F6E-4325-910E-595CA899F125}" srcId="{40205FD7-BCBD-4005-AD4E-B9C4036909BE}" destId="{A1D48708-5B23-4073-A927-BFB8C82D1BD3}" srcOrd="2" destOrd="0" parTransId="{66F288AB-B93E-45B1-AE26-1E5AE816707B}" sibTransId="{B776DB61-6641-4F52-9C3F-3F4E1C1F74B6}"/>
    <dgm:cxn modelId="{6B2E15DD-2938-4584-89B5-9F2634DFB55A}" type="presOf" srcId="{47AB023F-A217-4820-BF2B-4047020603E0}" destId="{B50BAC6A-A066-4AEC-8F44-8D932F664B08}" srcOrd="0" destOrd="0" presId="urn:microsoft.com/office/officeart/2005/8/layout/vList5"/>
    <dgm:cxn modelId="{3821A39B-35F1-4224-8BD5-5094260D3EC7}" type="presParOf" srcId="{B9C70A57-2409-4035-9CA6-B923F3105229}" destId="{850FC2B6-982B-418B-A1B0-B941A5F13CA9}" srcOrd="0" destOrd="0" presId="urn:microsoft.com/office/officeart/2005/8/layout/vList5"/>
    <dgm:cxn modelId="{0C763D5B-FD90-46BE-9F5F-6DBB5B7DC5B9}" type="presParOf" srcId="{850FC2B6-982B-418B-A1B0-B941A5F13CA9}" destId="{543F71FC-7C19-4746-B772-F2AB2202A51B}" srcOrd="0" destOrd="0" presId="urn:microsoft.com/office/officeart/2005/8/layout/vList5"/>
    <dgm:cxn modelId="{8EAF1B78-5945-4EE8-9F15-479F98D34CBF}" type="presParOf" srcId="{B9C70A57-2409-4035-9CA6-B923F3105229}" destId="{5AE23CD5-FA3A-4E27-AC5A-D83A3D1F017E}" srcOrd="1" destOrd="0" presId="urn:microsoft.com/office/officeart/2005/8/layout/vList5"/>
    <dgm:cxn modelId="{CC75CDCF-6F87-4491-8518-3DC167EB16D1}" type="presParOf" srcId="{B9C70A57-2409-4035-9CA6-B923F3105229}" destId="{363877F3-E25F-4E4C-9AC0-F12ADFE6C4AD}" srcOrd="2" destOrd="0" presId="urn:microsoft.com/office/officeart/2005/8/layout/vList5"/>
    <dgm:cxn modelId="{B524CCE6-181B-4183-81E4-9AEE7C5CEDE6}" type="presParOf" srcId="{363877F3-E25F-4E4C-9AC0-F12ADFE6C4AD}" destId="{B50BAC6A-A066-4AEC-8F44-8D932F664B08}" srcOrd="0" destOrd="0" presId="urn:microsoft.com/office/officeart/2005/8/layout/vList5"/>
    <dgm:cxn modelId="{581ACD39-9E27-40C1-A54D-615D9E6185BD}" type="presParOf" srcId="{B9C70A57-2409-4035-9CA6-B923F3105229}" destId="{22A9F13A-DB32-407E-AC7A-03AEFE06AE60}" srcOrd="3" destOrd="0" presId="urn:microsoft.com/office/officeart/2005/8/layout/vList5"/>
    <dgm:cxn modelId="{61310F1C-ED93-4227-9B24-E2AAB4020089}" type="presParOf" srcId="{B9C70A57-2409-4035-9CA6-B923F3105229}" destId="{A560C415-8BE6-4FB0-93DD-BDA5BB538320}" srcOrd="4" destOrd="0" presId="urn:microsoft.com/office/officeart/2005/8/layout/vList5"/>
    <dgm:cxn modelId="{7DB2A109-1656-4937-8D8D-00D708F5FF7C}" type="presParOf" srcId="{A560C415-8BE6-4FB0-93DD-BDA5BB538320}" destId="{78935658-5B34-4019-8BB7-C6CE61C275DC}" srcOrd="0" destOrd="0" presId="urn:microsoft.com/office/officeart/2005/8/layout/vList5"/>
    <dgm:cxn modelId="{FC834E9E-6AFE-482F-B972-3567E431E844}" type="presParOf" srcId="{B9C70A57-2409-4035-9CA6-B923F3105229}" destId="{59E8EA2F-53F4-45EC-81AB-0E55C02D54BF}" srcOrd="5" destOrd="0" presId="urn:microsoft.com/office/officeart/2005/8/layout/vList5"/>
    <dgm:cxn modelId="{A1378CFF-52A9-48F3-AAE4-DAFABF8358AA}" type="presParOf" srcId="{B9C70A57-2409-4035-9CA6-B923F3105229}" destId="{FC614799-CC5F-44F2-A432-9C048C048CC2}" srcOrd="6" destOrd="0" presId="urn:microsoft.com/office/officeart/2005/8/layout/vList5"/>
    <dgm:cxn modelId="{A7976C1B-52CD-43CF-BBA7-698701744C98}" type="presParOf" srcId="{FC614799-CC5F-44F2-A432-9C048C048CC2}" destId="{76DB960A-BD1F-4FB5-85AE-6BACD2D9848D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DD09ED-D601-45E8-AB19-130B9EF12D99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540A49-ACC9-4298-90C2-3746DB349090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/>
            <a:t>Mérési adatok</a:t>
          </a:r>
          <a:endParaRPr lang="en-US" sz="2100" kern="1200"/>
        </a:p>
      </dsp:txBody>
      <dsp:txXfrm>
        <a:off x="299702" y="1282093"/>
        <a:ext cx="2200851" cy="1366505"/>
      </dsp:txXfrm>
    </dsp:sp>
    <dsp:sp modelId="{CF6B77AD-48A7-4FD5-9DD6-9AE6FA7810C1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D42121-96A2-4F5E-9BEA-AB3ABDF38014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/>
            <a:t>Próbafüggvények</a:t>
          </a:r>
          <a:endParaRPr lang="en-US" sz="2100" kern="1200"/>
        </a:p>
      </dsp:txBody>
      <dsp:txXfrm>
        <a:off x="3093555" y="1282093"/>
        <a:ext cx="2200851" cy="1366505"/>
      </dsp:txXfrm>
    </dsp:sp>
    <dsp:sp modelId="{079F4BD8-A849-4326-99D3-64D2468E6701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079BBA-8C64-4A0E-BD4A-CE38A65DF78A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 dirty="0"/>
            <a:t>Sparse regresszió</a:t>
          </a:r>
          <a:endParaRPr lang="en-US" sz="2100" kern="1200" dirty="0"/>
        </a:p>
      </dsp:txBody>
      <dsp:txXfrm>
        <a:off x="5887408" y="1282093"/>
        <a:ext cx="2200851" cy="1366505"/>
      </dsp:txXfrm>
    </dsp:sp>
    <dsp:sp modelId="{B9FFB45E-5C61-4F45-8D6E-3C6FBEA386E5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921515-103B-4925-8A5A-C9E9ED31B969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/>
            <a:t>Azonosított egyenlet</a:t>
          </a:r>
          <a:endParaRPr lang="en-US" sz="2100" kern="1200"/>
        </a:p>
      </dsp:txBody>
      <dsp:txXfrm>
        <a:off x="8681261" y="1282093"/>
        <a:ext cx="2200851" cy="13665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3F71FC-7C19-4746-B772-F2AB2202A51B}">
      <dsp:nvSpPr>
        <dsp:cNvPr id="0" name=""/>
        <dsp:cNvSpPr/>
      </dsp:nvSpPr>
      <dsp:spPr>
        <a:xfrm>
          <a:off x="1504264" y="2309"/>
          <a:ext cx="1692297" cy="11108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600" kern="1200"/>
            <a:t>Egyszerű lineáris rendszer</a:t>
          </a:r>
          <a:endParaRPr lang="en-US" sz="1600" kern="1200"/>
        </a:p>
      </dsp:txBody>
      <dsp:txXfrm>
        <a:off x="1558493" y="56538"/>
        <a:ext cx="1583839" cy="1002426"/>
      </dsp:txXfrm>
    </dsp:sp>
    <dsp:sp modelId="{B50BAC6A-A066-4AEC-8F44-8D932F664B08}">
      <dsp:nvSpPr>
        <dsp:cNvPr id="0" name=""/>
        <dsp:cNvSpPr/>
      </dsp:nvSpPr>
      <dsp:spPr>
        <a:xfrm>
          <a:off x="1504264" y="1168738"/>
          <a:ext cx="1692297" cy="11108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600" kern="1200"/>
            <a:t>Jól ismert fizikai modell</a:t>
          </a:r>
          <a:endParaRPr lang="en-US" sz="1600" kern="1200"/>
        </a:p>
      </dsp:txBody>
      <dsp:txXfrm>
        <a:off x="1558493" y="1222967"/>
        <a:ext cx="1583839" cy="1002426"/>
      </dsp:txXfrm>
    </dsp:sp>
    <dsp:sp modelId="{78935658-5B34-4019-8BB7-C6CE61C275DC}">
      <dsp:nvSpPr>
        <dsp:cNvPr id="0" name=""/>
        <dsp:cNvSpPr/>
      </dsp:nvSpPr>
      <dsp:spPr>
        <a:xfrm>
          <a:off x="1504264" y="2335168"/>
          <a:ext cx="1692297" cy="11108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600" kern="1200"/>
            <a:t>Pozíció „mérés”</a:t>
          </a:r>
          <a:endParaRPr lang="en-US" sz="1600" kern="1200"/>
        </a:p>
      </dsp:txBody>
      <dsp:txXfrm>
        <a:off x="1558493" y="2389397"/>
        <a:ext cx="1583839" cy="1002426"/>
      </dsp:txXfrm>
    </dsp:sp>
    <dsp:sp modelId="{76DB960A-BD1F-4FB5-85AE-6BACD2D9848D}">
      <dsp:nvSpPr>
        <dsp:cNvPr id="0" name=""/>
        <dsp:cNvSpPr/>
      </dsp:nvSpPr>
      <dsp:spPr>
        <a:xfrm>
          <a:off x="1504264" y="3501597"/>
          <a:ext cx="1692297" cy="11108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600" kern="1200" dirty="0"/>
            <a:t>Sebesség és gyorsulás numerikus deriválással</a:t>
          </a:r>
          <a:endParaRPr lang="en-US" sz="1600" kern="1200" dirty="0"/>
        </a:p>
      </dsp:txBody>
      <dsp:txXfrm>
        <a:off x="1558493" y="3555826"/>
        <a:ext cx="1583839" cy="10024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5AF30-D691-43E1-BD6C-EC0E21187011}" type="datetimeFigureOut">
              <a:rPr lang="hu-HU" smtClean="0"/>
              <a:t>2026. 05. 28.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217648-332C-4166-B42B-97EA35BEC1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23811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Diszkrepancia tanulás egybe vagy külön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17648-332C-4166-B42B-97EA35BEC1F6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7214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mérnöki gyakorlatban a dinamikus rendszereket általában fizikai törvényekből levezetett modellekkel írjuk le. Ezek a modellek azonban sokszor nem írják le tökéletesen a valós rendszert, például a zaj, egyszerűsítések vagy nem modellezett hatások miatt. A projekt célja ezért az volt, hogy adatvezérelt módszerekkel megpróbáljam megtanulni ezeket az eltéréseket.</a:t>
            </a:r>
          </a:p>
          <a:p>
            <a:endParaRPr lang="hu-HU" dirty="0"/>
          </a:p>
          <a:p>
            <a:r>
              <a:rPr lang="hu-HU" dirty="0"/>
              <a:t>Ideális fizikai modell helyett részleges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17648-332C-4166-B42B-97EA35BEC1F6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930420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Csak paramétereiben lineáris problémák oldahatóak meg</a:t>
            </a:r>
          </a:p>
          <a:p>
            <a:r>
              <a:rPr lang="hu-HU" dirty="0"/>
              <a:t>Nemlineáris parciális differenciálegyenlet</a:t>
            </a:r>
          </a:p>
          <a:p>
            <a:r>
              <a:rPr lang="hu-HU" dirty="0"/>
              <a:t>Jelölések jobb oldalra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17648-332C-4166-B42B-97EA35BEC1F6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91146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Első- és Másodfokó deriváltakat tartalmazü diff.egyenlet</a:t>
            </a:r>
          </a:p>
          <a:p>
            <a:r>
              <a:rPr lang="hu-HU" dirty="0"/>
              <a:t>Csillapítás milért sebességfüggő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17648-332C-4166-B42B-97EA35BEC1F6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289269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Mik voltak a próbafüggvények?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17648-332C-4166-B42B-97EA35BEC1F6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82803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Ráközelíteni a gyorsulásra egy animációval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17648-332C-4166-B42B-97EA35BEC1F6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147710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28383-D76F-1773-C5A4-B1CF589BA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9136B9-E018-10C9-CC27-E9EBDD9ED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F96F6A-093D-3D8D-BB5F-1A0055CA3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Hátralépő differencia helyett centrális diff.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E1BA5-6904-283F-1FC0-7271DABF9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17648-332C-4166-B42B-97EA35BEC1F6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71171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46F31-1F92-5633-B5E9-3F5AC9C55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33C541-1E2C-5742-4A9C-D44320258F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986815-A365-1D21-0737-AE4E877BE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4910B-C0A1-870E-8ED6-4B7B8DE725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17648-332C-4166-B42B-97EA35BEC1F6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772758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8E381-AC23-69A2-7AEF-D59ABE994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745E8E-349D-D112-DD94-6666A79F7B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579E69-7832-8901-53D6-C03F26D04A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1289-11F5-0D29-85A2-9B8840050D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17648-332C-4166-B42B-97EA35BEC1F6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6911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2728A-06E5-82F5-00FB-83DB8E570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0DFBA-25B8-F165-B5DC-7F06BFAEAD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D7B91D-E091-DDD7-05B3-29C443D34E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F7CB6-5860-D3F1-BECC-96CAFC68C7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17648-332C-4166-B42B-97EA35BEC1F6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890518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25462-5005-CF2E-5EE3-30E5E8C7A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4A8366-8954-9056-6243-BFA2F2617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58A64E-4DE9-7AC1-A0E1-F00227373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0.048?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2AD12-1826-EE02-E2B3-C227164ECC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17648-332C-4166-B42B-97EA35BEC1F6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478808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8CC3E-0391-FA94-E3BC-080178343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2F6C08-FD88-676A-1996-15A0389682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482E6E-56ED-5186-47F9-1C5466847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F4B73-289D-D331-E775-7C4B046AA1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17648-332C-4166-B42B-97EA35BEC1F6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64808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17648-332C-4166-B42B-97EA35BEC1F6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06170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4078A-F7BC-164E-FA49-0221660BA5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7345F4-CBE0-1626-3A53-7749465F5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C6556-DDC3-C105-FD23-33B4A0EE6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C430E-11DA-487D-9F76-CF754D81BBAB}" type="datetimeFigureOut">
              <a:rPr lang="hu-HU" smtClean="0"/>
              <a:t>2026. 05. 28.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446B0-83EE-2339-28E8-65D8DB11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41684-61DC-BD03-EFE3-3126CFB71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21EFA-9C7B-4C18-89E3-5232A9A7AF0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65540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FF0F5-B185-EDB5-007F-964AB4F27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545AC-F85C-3FBD-D076-7B999E4F0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57C17-A7CD-749C-83F1-BBA7A7C36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C430E-11DA-487D-9F76-CF754D81BBAB}" type="datetimeFigureOut">
              <a:rPr lang="hu-HU" smtClean="0"/>
              <a:t>2026. 05. 28.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758CD-1144-F246-D6F4-DD450ADDF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55B4D-DF21-544A-A194-A16ECD2DA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21EFA-9C7B-4C18-89E3-5232A9A7AF0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95032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31016-4C1B-75F9-76B5-E3D8F99FD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222E4-BE31-D25B-1215-5441AAF3E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F9457-524C-11ED-582C-D72B78D5A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C430E-11DA-487D-9F76-CF754D81BBAB}" type="datetimeFigureOut">
              <a:rPr lang="hu-HU" smtClean="0"/>
              <a:t>2026. 05. 28.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715B7-243A-784B-0CB2-A70E118B7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7C9E8-880D-2169-D12D-83A9A5E76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21EFA-9C7B-4C18-89E3-5232A9A7AF0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93127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EFE24-224F-C5CF-28F6-7C7D68D5D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114E3-221D-4AFD-1FDE-96137C21A2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7660F6-BCC4-3FDC-64E2-E1807F18D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83864-1C01-84A6-B108-CAF889368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C430E-11DA-487D-9F76-CF754D81BBAB}" type="datetimeFigureOut">
              <a:rPr lang="hu-HU" smtClean="0"/>
              <a:t>2026. 05. 28.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8E2BD-1611-128E-4E66-C6FBAB5FE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37CE92-3301-7882-98C7-7693F9AC3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21EFA-9C7B-4C18-89E3-5232A9A7AF0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47028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BEAA3-9CF0-6B79-4A25-66CC84EB1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387DF-8622-5EE1-A12E-E4EC56BBE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500091-D5B6-21FD-AD8B-B74A7E914D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E6F37D-FE8F-3165-3B3B-4E17D6D7DD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9EC205-802B-57ED-6B05-C13DD8383D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CC9177-577F-51DC-1629-BB9FE4D12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C430E-11DA-487D-9F76-CF754D81BBAB}" type="datetimeFigureOut">
              <a:rPr lang="hu-HU" smtClean="0"/>
              <a:t>2026. 05. 28.</a:t>
            </a:fld>
            <a:endParaRPr lang="hu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390F20-66A9-E49C-20BA-38F454584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53594-00F0-6A9D-222A-400D83E89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21EFA-9C7B-4C18-89E3-5232A9A7AF0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5050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31845-427E-AA6D-031E-2E04169EE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12139C-BE1B-1C79-748F-4710E861A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C430E-11DA-487D-9F76-CF754D81BBAB}" type="datetimeFigureOut">
              <a:rPr lang="hu-HU" smtClean="0"/>
              <a:t>2026. 05. 28.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AC9A77-770B-3D91-022A-4E5BA04CF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655225-8BB8-95DB-71B0-807A0D86F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21EFA-9C7B-4C18-89E3-5232A9A7AF0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5507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1E310C-D4B0-C3CE-5A3D-60063E129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C430E-11DA-487D-9F76-CF754D81BBAB}" type="datetimeFigureOut">
              <a:rPr lang="hu-HU" smtClean="0"/>
              <a:t>2026. 05. 28.</a:t>
            </a:fld>
            <a:endParaRPr lang="hu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135D74-676F-B8ED-BFA6-EA0461FA8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F5D67-4F91-7E92-7583-FD7DA409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21EFA-9C7B-4C18-89E3-5232A9A7AF0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59358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F3883-88B6-7F68-64AA-4551E1EF2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BE1BB-616B-FFC9-3BCB-7E867E229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40AB0-17AD-A8C7-8752-E379BCFAD9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52A324-F7F7-5D84-EBE2-D71DB8000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C430E-11DA-487D-9F76-CF754D81BBAB}" type="datetimeFigureOut">
              <a:rPr lang="hu-HU" smtClean="0"/>
              <a:t>2026. 05. 28.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580EC7-05E3-2AC9-4EEE-562C23A77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76709-DAF7-1997-CF0A-6F0EEE966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21EFA-9C7B-4C18-89E3-5232A9A7AF0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11078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1B613-CB1C-10AE-6C11-43D0929BA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0126F2-8CDF-9917-0842-D0B53EDEE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2EABD6-8BD6-55FA-E395-65756717EB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80082-22CD-985C-7173-0B15FD31E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C430E-11DA-487D-9F76-CF754D81BBAB}" type="datetimeFigureOut">
              <a:rPr lang="hu-HU" smtClean="0"/>
              <a:t>2026. 05. 28.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F1CDC-CE46-0C40-83E1-19AC2E164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7180F-75E0-BF60-9461-10ADED653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21EFA-9C7B-4C18-89E3-5232A9A7AF0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1434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D2506-A944-9B05-D609-89B2CD972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6EFCDC-F314-0F1E-B004-3877FBC76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13A6A-FBB9-9B2A-BDEE-1FFBFB991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C430E-11DA-487D-9F76-CF754D81BBAB}" type="datetimeFigureOut">
              <a:rPr lang="hu-HU" smtClean="0"/>
              <a:t>2026. 05. 28.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E37E2-0AE9-EDD7-2049-F0692E267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7A301-DC66-1F94-6010-992D8C546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21EFA-9C7B-4C18-89E3-5232A9A7AF0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7451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CA3134-B057-0260-E23F-9C4442794F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4FAEF-701E-7A0B-410F-DD6DEA314A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98EC2-7BDB-5D6D-7607-70823D004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C430E-11DA-487D-9F76-CF754D81BBAB}" type="datetimeFigureOut">
              <a:rPr lang="hu-HU" smtClean="0"/>
              <a:t>2026. 05. 28.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9E536-76C0-4B55-DBA2-3C5A3181D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879C1-0EC3-6A19-575B-68ED5D462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21EFA-9C7B-4C18-89E3-5232A9A7AF0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52156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427872-C932-D95E-7F99-BC625D6E5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A91C1-4D33-A58C-41DD-FD741835F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2B53D-0FAC-B383-D37E-68F5E06989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8C430E-11DA-487D-9F76-CF754D81BBAB}" type="datetimeFigureOut">
              <a:rPr lang="hu-HU" smtClean="0"/>
              <a:t>2026. 05. 28.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D0116-7E96-2888-2A82-88C586CC2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9B778-9FB3-BF70-EE44-859C2D0D70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D21EFA-9C7B-4C18-89E3-5232A9A7AF0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2527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C09524-7834-1E96-4AA3-017C3F539D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hu-HU" sz="4800">
                <a:solidFill>
                  <a:srgbClr val="FFFFFF"/>
                </a:solidFill>
              </a:rPr>
              <a:t>Dinamikus rendszerek identifikációja és diszkrepancia tanulás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39AA4D-7180-6B82-4C4F-44CFC9FC4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hu-HU" sz="2000">
                <a:solidFill>
                  <a:srgbClr val="FFFFFF"/>
                </a:solidFill>
              </a:rPr>
              <a:t>Gavallér Dávid </a:t>
            </a:r>
          </a:p>
          <a:p>
            <a:pPr algn="r"/>
            <a:r>
              <a:rPr lang="hu-HU" sz="2000">
                <a:solidFill>
                  <a:srgbClr val="FFFFFF"/>
                </a:solidFill>
              </a:rPr>
              <a:t>ES02RO</a:t>
            </a:r>
          </a:p>
          <a:p>
            <a:pPr algn="r"/>
            <a:r>
              <a:rPr lang="hu-HU" sz="2000">
                <a:solidFill>
                  <a:srgbClr val="FFFFFF"/>
                </a:solidFill>
              </a:rPr>
              <a:t>Témavezető: Dr. Dabóczi Tamás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879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77A470-2429-5113-BA33-B5DAEE3E6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9" y="278535"/>
            <a:ext cx="9895951" cy="1033669"/>
          </a:xfrm>
        </p:spPr>
        <p:txBody>
          <a:bodyPr>
            <a:normAutofit/>
          </a:bodyPr>
          <a:lstStyle/>
          <a:p>
            <a:r>
              <a:rPr lang="hu-HU" sz="4000" dirty="0">
                <a:solidFill>
                  <a:srgbClr val="FFFFFF"/>
                </a:solidFill>
              </a:rPr>
              <a:t>Motiváció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E28A6-6446-7EF6-5900-EC05B0CF1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59" y="2003237"/>
            <a:ext cx="9724031" cy="3683358"/>
          </a:xfrm>
        </p:spPr>
        <p:txBody>
          <a:bodyPr anchor="ctr">
            <a:normAutofit lnSpcReduction="10000"/>
          </a:bodyPr>
          <a:lstStyle/>
          <a:p>
            <a:r>
              <a:rPr lang="hu-HU" dirty="0"/>
              <a:t>Fizikai törvényekből levezetett modellek</a:t>
            </a:r>
          </a:p>
          <a:p>
            <a:r>
              <a:rPr lang="hu-HU" dirty="0"/>
              <a:t>Valós rendszerek ≠ ideális modellek → diszkrepancia</a:t>
            </a:r>
          </a:p>
          <a:p>
            <a:pPr lvl="1"/>
            <a:r>
              <a:rPr lang="hu-HU" sz="2800" dirty="0"/>
              <a:t>Mérési zaj</a:t>
            </a:r>
          </a:p>
          <a:p>
            <a:pPr lvl="1"/>
            <a:r>
              <a:rPr lang="hu-HU" sz="2800" dirty="0"/>
              <a:t>Egyszerűsítések</a:t>
            </a:r>
          </a:p>
          <a:p>
            <a:pPr lvl="1"/>
            <a:r>
              <a:rPr lang="hu-HU" sz="2800" dirty="0"/>
              <a:t>Öregedés</a:t>
            </a:r>
          </a:p>
          <a:p>
            <a:r>
              <a:rPr lang="hu-HU" dirty="0"/>
              <a:t>Adatalapú identifikációs módszerek</a:t>
            </a:r>
          </a:p>
          <a:p>
            <a:pPr lvl="1"/>
            <a:r>
              <a:rPr lang="hu-HU" sz="2800" dirty="0"/>
              <a:t>SINDy</a:t>
            </a:r>
          </a:p>
          <a:p>
            <a:pPr lvl="1"/>
            <a:r>
              <a:rPr lang="hu-HU" sz="2800" dirty="0"/>
              <a:t>Neurális Hálók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4BE3FB-1295-AAEB-E23D-FD163ADA4F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982" y="3189514"/>
            <a:ext cx="5725260" cy="322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284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E41D64-2B0F-FD79-C908-5527273F3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769" y="335389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az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a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SINDy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?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3AB6545-9058-FC88-8840-80F8F601FECA}"/>
              </a:ext>
            </a:extLst>
          </p:cNvPr>
          <p:cNvGrpSpPr/>
          <p:nvPr/>
        </p:nvGrpSpPr>
        <p:grpSpPr>
          <a:xfrm>
            <a:off x="644053" y="2246622"/>
            <a:ext cx="10927829" cy="3689405"/>
            <a:chOff x="644056" y="2615979"/>
            <a:chExt cx="10927829" cy="3689405"/>
          </a:xfrm>
        </p:grpSpPr>
        <p:graphicFrame>
          <p:nvGraphicFramePr>
            <p:cNvPr id="8" name="Content Placeholder 2">
              <a:extLst>
                <a:ext uri="{FF2B5EF4-FFF2-40B4-BE49-F238E27FC236}">
                  <a16:creationId xmlns:a16="http://schemas.microsoft.com/office/drawing/2014/main" id="{BD405D66-EE4C-2C29-E5DC-1253A3E3833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786671301"/>
                </p:ext>
              </p:extLst>
            </p:nvPr>
          </p:nvGraphicFramePr>
          <p:xfrm>
            <a:off x="644056" y="2615979"/>
            <a:ext cx="10927829" cy="368940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12" name="Arrow: U-Turn 11">
              <a:extLst>
                <a:ext uri="{FF2B5EF4-FFF2-40B4-BE49-F238E27FC236}">
                  <a16:creationId xmlns:a16="http://schemas.microsoft.com/office/drawing/2014/main" id="{9EC12565-F473-C08A-D087-E8446CC94DCA}"/>
                </a:ext>
              </a:extLst>
            </p:cNvPr>
            <p:cNvSpPr/>
            <p:nvPr/>
          </p:nvSpPr>
          <p:spPr>
            <a:xfrm>
              <a:off x="2498273" y="3262993"/>
              <a:ext cx="2199814" cy="332014"/>
            </a:xfrm>
            <a:prstGeom prst="utur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solidFill>
                  <a:schemeClr val="tx1"/>
                </a:solidFill>
              </a:endParaRPr>
            </a:p>
          </p:txBody>
        </p:sp>
        <p:sp>
          <p:nvSpPr>
            <p:cNvPr id="16" name="Arrow: U-Turn 15">
              <a:extLst>
                <a:ext uri="{FF2B5EF4-FFF2-40B4-BE49-F238E27FC236}">
                  <a16:creationId xmlns:a16="http://schemas.microsoft.com/office/drawing/2014/main" id="{9E3DD4B3-306E-FF3A-459A-3B754683C3DD}"/>
                </a:ext>
              </a:extLst>
            </p:cNvPr>
            <p:cNvSpPr/>
            <p:nvPr/>
          </p:nvSpPr>
          <p:spPr>
            <a:xfrm>
              <a:off x="8082819" y="3262993"/>
              <a:ext cx="2199814" cy="332014"/>
            </a:xfrm>
            <a:prstGeom prst="utur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solidFill>
                  <a:schemeClr val="tx1"/>
                </a:solidFill>
              </a:endParaRPr>
            </a:p>
          </p:txBody>
        </p:sp>
        <p:sp>
          <p:nvSpPr>
            <p:cNvPr id="18" name="Arrow: U-Turn 17">
              <a:extLst>
                <a:ext uri="{FF2B5EF4-FFF2-40B4-BE49-F238E27FC236}">
                  <a16:creationId xmlns:a16="http://schemas.microsoft.com/office/drawing/2014/main" id="{8A966FB0-2C00-EE40-BC35-AF407FCB8FD9}"/>
                </a:ext>
              </a:extLst>
            </p:cNvPr>
            <p:cNvSpPr/>
            <p:nvPr/>
          </p:nvSpPr>
          <p:spPr>
            <a:xfrm>
              <a:off x="5276825" y="3262993"/>
              <a:ext cx="2199814" cy="332014"/>
            </a:xfrm>
            <a:prstGeom prst="utur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solidFill>
                  <a:schemeClr val="tx1"/>
                </a:solidFill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A144C78-B8DE-E121-9CDE-6EEF4EA7BBE7}"/>
              </a:ext>
            </a:extLst>
          </p:cNvPr>
          <p:cNvSpPr txBox="1"/>
          <p:nvPr/>
        </p:nvSpPr>
        <p:spPr>
          <a:xfrm>
            <a:off x="417769" y="5228141"/>
            <a:ext cx="109038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/>
              <a:t>A rendszer dinamikája kevés domináns függvény kombinációjával leírható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C69787-22A6-4517-9459-96765616555A}"/>
              </a:ext>
            </a:extLst>
          </p:cNvPr>
          <p:cNvSpPr txBox="1"/>
          <p:nvPr/>
        </p:nvSpPr>
        <p:spPr>
          <a:xfrm>
            <a:off x="563880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hu-H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52492E0-1EAC-4C5D-2586-83A8E9388F0B}"/>
                  </a:ext>
                </a:extLst>
              </p:cNvPr>
              <p:cNvSpPr txBox="1"/>
              <p:nvPr/>
            </p:nvSpPr>
            <p:spPr>
              <a:xfrm>
                <a:off x="1779855" y="5796656"/>
                <a:ext cx="8179716" cy="6003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hu-HU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hu-HU" sz="3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hu-H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 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hu-H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hu-H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hu-H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Ξ</m:t>
                      </m:r>
                    </m:oMath>
                  </m:oMathPara>
                </a14:m>
                <a:endParaRPr lang="hu-HU" sz="3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52492E0-1EAC-4C5D-2586-83A8E9388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855" y="5796656"/>
                <a:ext cx="8179716" cy="6003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3812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17B18F-9010-46DC-0E1E-478EE692F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458" y="318388"/>
            <a:ext cx="10044023" cy="877729"/>
          </a:xfrm>
        </p:spPr>
        <p:txBody>
          <a:bodyPr anchor="ctr">
            <a:normAutofit/>
          </a:bodyPr>
          <a:lstStyle/>
          <a:p>
            <a:r>
              <a:rPr lang="hu-HU" sz="4000" dirty="0">
                <a:solidFill>
                  <a:srgbClr val="FFFFFF"/>
                </a:solidFill>
              </a:rPr>
              <a:t>Rugó-tömeg-csillapítás rendszer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29B0FFB-AC43-B285-9DC6-324E513731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9711943"/>
              </p:ext>
            </p:extLst>
          </p:nvPr>
        </p:nvGraphicFramePr>
        <p:xfrm>
          <a:off x="0" y="1894343"/>
          <a:ext cx="4700827" cy="4614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0081DE34-6FAB-36EE-7DAC-88C9CF7A09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34577" y="1723721"/>
            <a:ext cx="7278212" cy="38171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8C00B9-B276-2F60-8075-7A11EF61978A}"/>
                  </a:ext>
                </a:extLst>
              </p:cNvPr>
              <p:cNvSpPr txBox="1"/>
              <p:nvPr/>
            </p:nvSpPr>
            <p:spPr>
              <a:xfrm>
                <a:off x="5149822" y="5529942"/>
                <a:ext cx="5247722" cy="8179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hu-HU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hu-HU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hu-HU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hu-HU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hu-HU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hu-HU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hu-HU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hu-HU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hu-HU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8C00B9-B276-2F60-8075-7A11EF619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9822" y="5529942"/>
                <a:ext cx="5247722" cy="81798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6436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DEF69D-985F-4397-0E17-BA16E76F9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739" y="272617"/>
            <a:ext cx="9895951" cy="1033669"/>
          </a:xfrm>
        </p:spPr>
        <p:txBody>
          <a:bodyPr>
            <a:normAutofit/>
          </a:bodyPr>
          <a:lstStyle/>
          <a:p>
            <a:r>
              <a:rPr lang="hu-HU" sz="4000" dirty="0">
                <a:solidFill>
                  <a:srgbClr val="FFFFFF"/>
                </a:solidFill>
              </a:rPr>
              <a:t>SINDy kis zajjal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422BB-EE95-2E8B-89EE-CE0AEC5EB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739" y="1870049"/>
            <a:ext cx="4947971" cy="1962329"/>
          </a:xfrm>
        </p:spPr>
        <p:txBody>
          <a:bodyPr anchor="ctr">
            <a:normAutofit/>
          </a:bodyPr>
          <a:lstStyle/>
          <a:p>
            <a:r>
              <a:rPr lang="hu-HU" dirty="0"/>
              <a:t>Rekonstruálta a rendszer dinamikáját</a:t>
            </a:r>
          </a:p>
          <a:p>
            <a:r>
              <a:rPr lang="hu-HU" dirty="0"/>
              <a:t>Az együtthatók közel a valódi értékekhez</a:t>
            </a:r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510D682-2F0F-AA53-604D-DD3AFCBAC3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3884" y="1597432"/>
            <a:ext cx="7228115" cy="525203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C55D88EB-892A-3E65-6828-B74B27189A5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2738" y="3982661"/>
                <a:ext cx="4947971" cy="196232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hu-HU" dirty="0"/>
                  <a:t>Valódi: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=−4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−0.8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hu-HU" b="0" dirty="0"/>
              </a:p>
              <a:p>
                <a:pPr marL="0" indent="0">
                  <a:buNone/>
                </a:pPr>
                <a:r>
                  <a:rPr lang="hu-HU" dirty="0"/>
                  <a:t>Identifikált: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=-3.9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972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−0.8011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hu-HU" dirty="0"/>
              </a:p>
            </p:txBody>
          </p:sp>
        </mc:Choice>
        <mc:Fallback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C55D88EB-892A-3E65-6828-B74B27189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738" y="3982661"/>
                <a:ext cx="4947971" cy="1962329"/>
              </a:xfrm>
              <a:prstGeom prst="rect">
                <a:avLst/>
              </a:prstGeom>
              <a:blipFill>
                <a:blip r:embed="rId4"/>
                <a:stretch>
                  <a:fillRect l="-2589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3026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2243AB-4A4F-F0ED-16F8-798E9AC7E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213D92-09B2-7167-8167-521241076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ABA767-3FB5-0D14-705A-858BD59D1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964992-82DB-7650-9C5A-2F7964F8A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99E8E3-844F-3EA9-2D0A-2DF3F8B09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1C610C-7503-88A6-EE14-064279B93B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DC9D96-B4F1-7CE6-575F-024188127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739" y="272617"/>
            <a:ext cx="9895951" cy="1033669"/>
          </a:xfrm>
        </p:spPr>
        <p:txBody>
          <a:bodyPr>
            <a:normAutofit/>
          </a:bodyPr>
          <a:lstStyle/>
          <a:p>
            <a:r>
              <a:rPr lang="hu-HU" sz="4000" dirty="0">
                <a:solidFill>
                  <a:srgbClr val="FFFFFF"/>
                </a:solidFill>
              </a:rPr>
              <a:t>Nagy zaj hatása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5D7680-57A8-0563-04F0-13820AC411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8658" y="1683269"/>
            <a:ext cx="8443338" cy="507551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65B983E-EA32-0600-90A2-8712BD28E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55" y="2653583"/>
            <a:ext cx="3707002" cy="3148265"/>
          </a:xfrm>
        </p:spPr>
        <p:txBody>
          <a:bodyPr anchor="ctr">
            <a:normAutofit/>
          </a:bodyPr>
          <a:lstStyle/>
          <a:p>
            <a:r>
              <a:rPr lang="hu-HU" dirty="0"/>
              <a:t>Deriválás felerősíti a mérési zajt</a:t>
            </a:r>
          </a:p>
          <a:p>
            <a:r>
              <a:rPr lang="hu-HU" dirty="0"/>
              <a:t>Identifikáció sikertelen</a:t>
            </a:r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36934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95EB8F-8373-5C23-1C2F-9CC485722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B70726C-6B18-0A43-784A-AD37D3467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3CB6A0-8C0E-9550-57B0-DE959DE93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D9CA52-ACCF-7A7B-411E-BAD81B9669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D42602-FE69-B8F1-B04D-190B38F4C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5D8ED5-2B35-7A70-5E8E-75BB6302A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4F0FF7-2C8D-495F-0E60-D48A0365B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739" y="272617"/>
            <a:ext cx="9895951" cy="1033669"/>
          </a:xfrm>
        </p:spPr>
        <p:txBody>
          <a:bodyPr>
            <a:normAutofit/>
          </a:bodyPr>
          <a:lstStyle/>
          <a:p>
            <a:r>
              <a:rPr lang="hu-HU" sz="4000" dirty="0">
                <a:solidFill>
                  <a:srgbClr val="FFFFFF"/>
                </a:solidFill>
              </a:rPr>
              <a:t>Savitzky-Golay szűrés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1A1420-D0D6-322B-169A-788871971B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68686" y="1864132"/>
            <a:ext cx="6843050" cy="472716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B92C1B8-E484-6F7B-1F49-060F9314D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64" y="1597432"/>
            <a:ext cx="5362593" cy="3507968"/>
          </a:xfrm>
        </p:spPr>
        <p:txBody>
          <a:bodyPr anchor="ctr">
            <a:normAutofit/>
          </a:bodyPr>
          <a:lstStyle/>
          <a:p>
            <a:r>
              <a:rPr lang="hu-HU" dirty="0"/>
              <a:t>Deriválás előtt simítás</a:t>
            </a:r>
          </a:p>
          <a:p>
            <a:r>
              <a:rPr lang="hu-HU" dirty="0"/>
              <a:t>diff() függvény helyett gradient()</a:t>
            </a:r>
          </a:p>
          <a:p>
            <a:r>
              <a:rPr lang="hu-HU" dirty="0"/>
              <a:t>Identifikáció sikeres</a:t>
            </a:r>
          </a:p>
          <a:p>
            <a:pPr marL="0" indent="0">
              <a:buNone/>
            </a:pPr>
            <a:endParaRPr lang="hu-H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7170E65-E0ED-044E-5676-F1FDC818A0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2738" y="3982661"/>
                <a:ext cx="4947971" cy="196232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hu-HU" dirty="0"/>
                  <a:t>Valódi: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=−4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−0.8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hu-HU" b="0" dirty="0"/>
              </a:p>
              <a:p>
                <a:pPr marL="0" indent="0">
                  <a:buNone/>
                </a:pPr>
                <a:r>
                  <a:rPr lang="hu-HU" dirty="0"/>
                  <a:t>Identifikált: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=−4.4315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−0.8010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7170E65-E0ED-044E-5676-F1FDC818A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738" y="3982661"/>
                <a:ext cx="4947971" cy="1962329"/>
              </a:xfrm>
              <a:prstGeom prst="rect">
                <a:avLst/>
              </a:prstGeom>
              <a:blipFill>
                <a:blip r:embed="rId4"/>
                <a:stretch>
                  <a:fillRect l="-2589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8298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4A4B8A-DB6B-6D1C-3DB6-6639B9AB8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4AE30-F471-BA74-2065-F022D3A4E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23CFDE-3230-035D-3509-DA4F230A64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E24DC5-700E-21E5-3B4F-B32AE9090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9A96FE-864B-B969-D47A-8B0007425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BC524F-9AB5-696B-9C4E-0684AE00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A1F436-0BAF-4F56-2266-EB47AEA15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739" y="272617"/>
            <a:ext cx="9895951" cy="1033669"/>
          </a:xfrm>
        </p:spPr>
        <p:txBody>
          <a:bodyPr>
            <a:normAutofit/>
          </a:bodyPr>
          <a:lstStyle/>
          <a:p>
            <a:r>
              <a:rPr lang="hu-HU" sz="4000" dirty="0">
                <a:solidFill>
                  <a:srgbClr val="FFFFFF"/>
                </a:solidFill>
              </a:rPr>
              <a:t>SVD és lineáris függőség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9DA259E-BA09-16AF-12B2-4E22F7F974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0265" y="1597432"/>
                <a:ext cx="5304536" cy="3746728"/>
              </a:xfrm>
            </p:spPr>
            <p:txBody>
              <a:bodyPr anchor="ctr">
                <a:normAutofit/>
              </a:bodyPr>
              <a:lstStyle/>
              <a:p>
                <a:r>
                  <a:rPr lang="hu-HU" dirty="0"/>
                  <a:t>Regresszió instabillá és megoldhatatlanná válhat</a:t>
                </a:r>
              </a:p>
              <a:p>
                <a:r>
                  <a:rPr lang="hu-HU" dirty="0"/>
                  <a:t>SVD segítségével felismerhető → Redundáns tag eltávolítható</a:t>
                </a:r>
              </a:p>
              <a:p>
                <a:r>
                  <a:rPr lang="hu-HU" dirty="0"/>
                  <a:t>Regresszió megoldható</a:t>
                </a:r>
              </a:p>
              <a:p>
                <a:pPr marL="0" indent="0">
                  <a:buNone/>
                </a:pPr>
                <a:endParaRPr lang="hu-HU" dirty="0"/>
              </a:p>
              <a:p>
                <a:pPr marL="0" indent="0">
                  <a:buNone/>
                </a:pPr>
                <a:endParaRPr lang="hu-HU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9DA259E-BA09-16AF-12B2-4E22F7F974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265" y="1597432"/>
                <a:ext cx="5304536" cy="3746728"/>
              </a:xfrm>
              <a:blipFill>
                <a:blip r:embed="rId3"/>
                <a:stretch>
                  <a:fillRect l="-2069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DA8907-A890-D3DE-C932-0719B429797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07201" y="1691424"/>
                <a:ext cx="3983502" cy="112273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hu-HU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hu-HU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hu-HU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i="1" dirty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hu-HU" i="1" dirty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hu-HU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hu-HU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hu-HU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hu-HU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hu-HU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hu-HU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hu-HU" i="1" dirty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p>
                              <m:r>
                                <a:rPr lang="hu-HU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hu-HU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DA8907-A890-D3DE-C932-0719B4297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7201" y="1691424"/>
                <a:ext cx="3983502" cy="11227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78F07A-76AB-59FD-2E0A-9223D7F5F0F1}"/>
                  </a:ext>
                </a:extLst>
              </p:cNvPr>
              <p:cNvSpPr txBox="1"/>
              <p:nvPr/>
            </p:nvSpPr>
            <p:spPr>
              <a:xfrm>
                <a:off x="6498246" y="4573282"/>
                <a:ext cx="4580305" cy="6003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Ξ</m:t>
                      </m:r>
                      <m:r>
                        <a:rPr lang="hu-HU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hu-HU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u-HU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hu-HU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hu-HU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l-G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  <m:r>
                            <a:rPr lang="hu-HU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hu-HU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hu-HU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hu-HU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acc>
                        <m:accPr>
                          <m:chr m:val="̇"/>
                          <m:ctrlPr>
                            <a:rPr lang="hu-HU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hu-HU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e>
                      </m:acc>
                    </m:oMath>
                  </m:oMathPara>
                </a14:m>
                <a:endParaRPr lang="hu-HU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78F07A-76AB-59FD-2E0A-9223D7F5F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8246" y="4573282"/>
                <a:ext cx="4580305" cy="6003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54D48C89-846E-5775-5F07-1FD9F332511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8799" y="2814163"/>
                <a:ext cx="4580305" cy="112273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dirty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hu-HU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hu-HU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dirty="0" smtClean="0">
                              <a:latin typeface="Cambria Math" panose="02040503050406030204" pitchFamily="18" charset="0"/>
                            </a:rPr>
                            <m:t>90</m:t>
                          </m:r>
                          <m:r>
                            <a:rPr lang="hu-HU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hu-HU" b="0" i="1" dirty="0" smtClean="0">
                              <a:latin typeface="Cambria Math" panose="02040503050406030204" pitchFamily="18" charset="0"/>
                            </a:rPr>
                            <m:t> 50</m:t>
                          </m:r>
                          <m:r>
                            <a:rPr lang="hu-HU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hu-HU" b="0" i="1" dirty="0" smtClean="0">
                              <a:latin typeface="Cambria Math" panose="02040503050406030204" pitchFamily="18" charset="0"/>
                            </a:rPr>
                            <m:t> 30</m:t>
                          </m:r>
                          <m:r>
                            <a:rPr lang="hu-HU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hu-HU" b="0" i="1" dirty="0" smtClean="0">
                              <a:latin typeface="Cambria Math" panose="02040503050406030204" pitchFamily="18" charset="0"/>
                            </a:rPr>
                            <m:t> 10</m:t>
                          </m:r>
                          <m:r>
                            <a:rPr lang="hu-HU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hu-HU" b="0" i="1" dirty="0" smtClean="0">
                              <a:latin typeface="Cambria Math" panose="02040503050406030204" pitchFamily="18" charset="0"/>
                            </a:rPr>
                            <m:t> 5</m:t>
                          </m:r>
                          <m:r>
                            <a:rPr lang="hu-HU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hu-HU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hu-HU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−15</m:t>
                              </m:r>
                            </m:sup>
                          </m:sSup>
                          <m:r>
                            <a:rPr lang="hu-HU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hu-HU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54D48C89-846E-5775-5F07-1FD9F3325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799" y="2814163"/>
                <a:ext cx="4580305" cy="11227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4859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EA02CF-F6B3-7B04-5293-F1AD4AF0D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C8C3910-012A-2968-88D0-BBCA37345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67CCEA-FBC2-BB45-3408-B88202DD6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DE1593-D369-E229-0CDE-2806C556A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91D230-E7D9-E0ED-3891-ED39B1003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178CDE-9D03-6A25-8FCC-83E89783F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500837-2893-049A-8794-0DEC4E435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739" y="272617"/>
            <a:ext cx="9895951" cy="1033669"/>
          </a:xfrm>
        </p:spPr>
        <p:txBody>
          <a:bodyPr>
            <a:normAutofit/>
          </a:bodyPr>
          <a:lstStyle/>
          <a:p>
            <a:r>
              <a:rPr lang="hu-HU" sz="4000" dirty="0">
                <a:solidFill>
                  <a:srgbClr val="FFFFFF"/>
                </a:solidFill>
              </a:rPr>
              <a:t>Labda-ejtés rendszer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42525F2-33D3-39F3-94D2-A2C45EBDC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8443" y="1703527"/>
            <a:ext cx="5558536" cy="1958568"/>
          </a:xfrm>
        </p:spPr>
        <p:txBody>
          <a:bodyPr anchor="ctr">
            <a:normAutofit/>
          </a:bodyPr>
          <a:lstStyle/>
          <a:p>
            <a:r>
              <a:rPr lang="hu-HU" dirty="0"/>
              <a:t>Nemlineáris légellenállás</a:t>
            </a:r>
          </a:p>
          <a:p>
            <a:r>
              <a:rPr lang="hu-HU" dirty="0"/>
              <a:t>Légellenállási együttható → Reynolds-szám → Sebesség</a:t>
            </a:r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8CB212-1310-FB9C-7F29-18E9FCAAF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37660"/>
            <a:ext cx="2209279" cy="29710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4CD9F1C-CA02-E99D-366E-F3BBC85F0A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341" y="3328956"/>
            <a:ext cx="4822590" cy="325642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500E6C1-DA2F-1D3C-0B72-2F4B278D0B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4931" y="2591607"/>
            <a:ext cx="5327065" cy="39937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6C58B01E-D971-B5F9-F722-6DAA6EFBBF6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85508" y="1202841"/>
                <a:ext cx="4947971" cy="196232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hu-HU" dirty="0"/>
                  <a:t>Azonosított egyenlet: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=9.8654−0.0083</m:t>
                      </m:r>
                      <m:sSup>
                        <m:sSup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hu-HU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hu-HU" b="0" dirty="0"/>
              </a:p>
            </p:txBody>
          </p:sp>
        </mc:Choice>
        <mc:Fallback xmlns="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6C58B01E-D971-B5F9-F722-6DAA6EFBB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508" y="1202841"/>
                <a:ext cx="4947971" cy="1962329"/>
              </a:xfrm>
              <a:prstGeom prst="rect">
                <a:avLst/>
              </a:prstGeom>
              <a:blipFill>
                <a:blip r:embed="rId6"/>
                <a:stretch>
                  <a:fillRect l="-2589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2ACDFA9-4A1D-4BB4-6BD6-44ED378F9F3D}"/>
              </a:ext>
            </a:extLst>
          </p:cNvPr>
          <p:cNvSpPr txBox="1"/>
          <p:nvPr/>
        </p:nvSpPr>
        <p:spPr>
          <a:xfrm>
            <a:off x="2761862" y="6490859"/>
            <a:ext cx="38202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900" dirty="0"/>
              <a:t>Forrás: Morrison, Faith A. </a:t>
            </a:r>
            <a:r>
              <a:rPr lang="en-US" sz="900" i="1" dirty="0"/>
              <a:t>Data Correlation for Drag Coefficient for Sphere</a:t>
            </a:r>
          </a:p>
        </p:txBody>
      </p:sp>
    </p:spTree>
    <p:extLst>
      <p:ext uri="{BB962C8B-B14F-4D97-AF65-F5344CB8AC3E}">
        <p14:creationId xmlns:p14="http://schemas.microsoft.com/office/powerpoint/2010/main" val="3612509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05C12B-3F22-0E96-66A2-D452DD078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E421418-7FF8-0AD8-61D5-1A527316F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FD01AA-BCA6-596C-45A6-F9EA7DC82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89B73C-AB32-015A-F4D9-A64011C43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2E0078-DCD2-8133-CC32-75CED025F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18FB78-65FF-06B7-7F61-DF771C778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B82FB1-6630-2C53-CEBE-53EA76CAA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739" y="272617"/>
            <a:ext cx="9895951" cy="1033669"/>
          </a:xfrm>
        </p:spPr>
        <p:txBody>
          <a:bodyPr>
            <a:normAutofit/>
          </a:bodyPr>
          <a:lstStyle/>
          <a:p>
            <a:r>
              <a:rPr lang="hu-HU" sz="4000" dirty="0">
                <a:solidFill>
                  <a:srgbClr val="FFFFFF"/>
                </a:solidFill>
              </a:rPr>
              <a:t>Regresszió stabilizálás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42A56B8-F893-1FE2-E881-954A58CAC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739" y="2307591"/>
            <a:ext cx="8214068" cy="1913433"/>
          </a:xfrm>
        </p:spPr>
        <p:txBody>
          <a:bodyPr anchor="ctr">
            <a:normAutofit/>
          </a:bodyPr>
          <a:lstStyle/>
          <a:p>
            <a:r>
              <a:rPr lang="hu-HU" dirty="0"/>
              <a:t>Nagy zaj → Instabil regresszió</a:t>
            </a:r>
          </a:p>
          <a:p>
            <a:r>
              <a:rPr lang="hu-HU" dirty="0"/>
              <a:t>Kis szinguláris értékek felerősödnek</a:t>
            </a:r>
          </a:p>
          <a:p>
            <a:r>
              <a:rPr lang="hu-HU" dirty="0"/>
              <a:t>Regularizációs operátor hozzáadása: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C56DCC-02B8-7D8F-3B44-6BD7B40686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665" y="3120921"/>
            <a:ext cx="4847049" cy="36339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1A228F4-8D57-F0E6-35A5-05798641BE3B}"/>
                  </a:ext>
                </a:extLst>
              </p:cNvPr>
              <p:cNvSpPr txBox="1"/>
              <p:nvPr/>
            </p:nvSpPr>
            <p:spPr>
              <a:xfrm>
                <a:off x="6206296" y="2692400"/>
                <a:ext cx="4461021" cy="6003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hu-HU"/>
                </a:defPPr>
                <a:lvl1pPr>
                  <a:defRPr sz="3200" b="0" i="1">
                    <a:latin typeface="Cambria Math" panose="02040503050406030204" pitchFamily="18" charset="0"/>
                    <a:ea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mtClean="0">
                          <a:latin typeface="Cambria Math" panose="02040503050406030204" pitchFamily="18" charset="0"/>
                        </a:rPr>
                        <m:t>Ξ</m:t>
                      </m:r>
                      <m:r>
                        <a:rPr lang="hu-HU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u-HU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hu-HU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</a:rPr>
                            <m:t>Θ</m:t>
                          </m:r>
                          <m:r>
                            <a:rPr lang="hu-HU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m:rPr>
                              <m:sty m:val="p"/>
                            </m:rPr>
                            <a:rPr lang="el-GR" smtClean="0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hu-HU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hu-HU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acc>
                        <m:accPr>
                          <m:chr m:val="̇"/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hu-HU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acc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1A228F4-8D57-F0E6-35A5-05798641B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6296" y="2692400"/>
                <a:ext cx="4461021" cy="6003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CFF13D11-FCAF-862F-D937-2CAEBE2278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8495" y="3429000"/>
            <a:ext cx="6339840" cy="3058973"/>
          </a:xfrm>
          <a:prstGeom prst="rect">
            <a:avLst/>
          </a:prstGeom>
        </p:spPr>
      </p:pic>
      <p:sp>
        <p:nvSpPr>
          <p:cNvPr id="22" name="Arrow: Right 21">
            <a:extLst>
              <a:ext uri="{FF2B5EF4-FFF2-40B4-BE49-F238E27FC236}">
                <a16:creationId xmlns:a16="http://schemas.microsoft.com/office/drawing/2014/main" id="{354106A6-2F43-3400-6F4F-AB47F13CE6AA}"/>
              </a:ext>
            </a:extLst>
          </p:cNvPr>
          <p:cNvSpPr/>
          <p:nvPr/>
        </p:nvSpPr>
        <p:spPr>
          <a:xfrm>
            <a:off x="5040813" y="4520461"/>
            <a:ext cx="975362" cy="5138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87958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F732C9-AA6D-E5DD-E5D7-59D3EDAFF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FA632EF-EE18-3ECF-E8EC-400811FA1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6BDB2D-3134-B668-AE30-4463D0FE3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20D8EA-5F2A-506C-95CB-9E26761A0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363763-F30F-DA39-9434-9944D17A9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FF7128-7C36-95BD-5E34-DF92696467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58C2-DCC0-7272-A461-E3DA68385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739" y="272617"/>
            <a:ext cx="9895951" cy="1033669"/>
          </a:xfrm>
        </p:spPr>
        <p:txBody>
          <a:bodyPr>
            <a:normAutofit/>
          </a:bodyPr>
          <a:lstStyle/>
          <a:p>
            <a:r>
              <a:rPr lang="hu-HU" sz="4000" dirty="0">
                <a:solidFill>
                  <a:srgbClr val="FFFFFF"/>
                </a:solidFill>
              </a:rPr>
              <a:t>Diszkrepancia tanulás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60691D7-5439-9B48-EC41-8B2C9ACF8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32" y="2309777"/>
            <a:ext cx="6215770" cy="3126967"/>
          </a:xfrm>
        </p:spPr>
        <p:txBody>
          <a:bodyPr anchor="ctr">
            <a:normAutofit/>
          </a:bodyPr>
          <a:lstStyle/>
          <a:p>
            <a:r>
              <a:rPr lang="hu-HU" dirty="0"/>
              <a:t>Valóság = Fizikai modell + Diszkrepancia</a:t>
            </a:r>
          </a:p>
          <a:p>
            <a:r>
              <a:rPr lang="hu-HU" dirty="0"/>
              <a:t>Mesterséges diszkrepancia hozzáadása</a:t>
            </a:r>
          </a:p>
          <a:p>
            <a:r>
              <a:rPr lang="hu-HU" dirty="0"/>
              <a:t>Az eltérés tanulása</a:t>
            </a:r>
          </a:p>
          <a:p>
            <a:pPr lvl="1"/>
            <a:r>
              <a:rPr lang="hu-HU" dirty="0"/>
              <a:t>SINDy-vel</a:t>
            </a:r>
          </a:p>
          <a:p>
            <a:pPr lvl="1"/>
            <a:r>
              <a:rPr lang="hu-HU" dirty="0"/>
              <a:t>Neurális Hálóval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CC33D8-33E9-A9FD-3212-571AE8BC0C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4800" y="1590741"/>
            <a:ext cx="6583680" cy="493587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32325252-1142-5A8D-C9DB-22BA521ECA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2739" y="4665428"/>
                <a:ext cx="5547360" cy="219257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hu-HU" dirty="0"/>
                  <a:t>Hozzáadott tag:</a:t>
                </a:r>
              </a:p>
              <a:p>
                <a:pPr marL="0" indent="0">
                  <a:buNone/>
                </a:pPr>
                <a:endParaRPr lang="hu-H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hu-HU" b="0" i="1" smtClean="0">
                          <a:latin typeface="Cambria Math" panose="02040503050406030204" pitchFamily="18" charset="0"/>
                        </a:rPr>
                        <m:t>discrepancy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=0.5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hu-HU" b="0" dirty="0"/>
              </a:p>
              <a:p>
                <a:pPr marL="0" indent="0">
                  <a:buNone/>
                </a:pPr>
                <a:r>
                  <a:rPr lang="hu-HU" dirty="0"/>
                  <a:t>Identifikált:</a:t>
                </a:r>
              </a:p>
              <a:p>
                <a:pPr marL="0" indent="0">
                  <a:buNone/>
                </a:pPr>
                <a:endParaRPr lang="hu-H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hu-HU" b="0" i="1" smtClean="0">
                          <a:latin typeface="Cambria Math" panose="02040503050406030204" pitchFamily="18" charset="0"/>
                        </a:rPr>
                        <m:t>discrepancy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=0.048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− 3.4598 ∙</m:t>
                      </m:r>
                      <m:sSup>
                        <m:sSup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−5</m:t>
                          </m:r>
                        </m:sup>
                      </m:sSup>
                      <m:sSup>
                        <m:sSup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v</m:t>
                          </m:r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hu-HU" dirty="0"/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32325252-1142-5A8D-C9DB-22BA521EC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739" y="4665428"/>
                <a:ext cx="5547360" cy="2192572"/>
              </a:xfrm>
              <a:prstGeom prst="rect">
                <a:avLst/>
              </a:prstGeom>
              <a:blipFill>
                <a:blip r:embed="rId4"/>
                <a:stretch>
                  <a:fillRect l="-1429" t="-1389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8095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A95947-6885-F78B-2B43-ABD8DE28C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478EF6A-CF15-62BE-83F9-D4A91FB4B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E6AFF0-C76E-5E8B-75FC-9A1904406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446E3E-6FAC-609F-4E05-13819EEA7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37D2B8-2D8B-B5FD-1F5C-C557B8216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B5F92D-5DFD-89E7-FEF4-8D543181F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4AA010-8A52-A363-A16B-D32447A09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739" y="272617"/>
            <a:ext cx="9895951" cy="1033669"/>
          </a:xfrm>
        </p:spPr>
        <p:txBody>
          <a:bodyPr>
            <a:normAutofit/>
          </a:bodyPr>
          <a:lstStyle/>
          <a:p>
            <a:r>
              <a:rPr lang="hu-HU" sz="4000" dirty="0">
                <a:solidFill>
                  <a:srgbClr val="FFFFFF"/>
                </a:solidFill>
              </a:rPr>
              <a:t>Összegzés és folytatás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EA8E032-B903-8E64-49E6-45EBD0771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92" y="1821511"/>
            <a:ext cx="6337688" cy="4763872"/>
          </a:xfrm>
        </p:spPr>
        <p:txBody>
          <a:bodyPr anchor="ctr">
            <a:normAutofit/>
          </a:bodyPr>
          <a:lstStyle/>
          <a:p>
            <a:r>
              <a:rPr lang="hu-HU" dirty="0"/>
              <a:t>SINDy sikeresen azonosított dinamikus rendszereket</a:t>
            </a:r>
          </a:p>
          <a:p>
            <a:pPr lvl="1"/>
            <a:r>
              <a:rPr lang="hu-HU" dirty="0"/>
              <a:t>Helyes próbafüggvény választás</a:t>
            </a:r>
          </a:p>
          <a:p>
            <a:pPr lvl="1"/>
            <a:r>
              <a:rPr lang="hu-HU" dirty="0"/>
              <a:t>Zajos jel simítása deriválás előtt</a:t>
            </a:r>
          </a:p>
          <a:p>
            <a:pPr lvl="1"/>
            <a:r>
              <a:rPr lang="hu-HU" dirty="0"/>
              <a:t>Regularizációs operátor nagy zajnál</a:t>
            </a:r>
          </a:p>
          <a:p>
            <a:r>
              <a:rPr lang="hu-HU" dirty="0"/>
              <a:t>Diszkrepancia modellezése</a:t>
            </a:r>
          </a:p>
          <a:p>
            <a:pPr lvl="1"/>
            <a:r>
              <a:rPr lang="hu-HU" dirty="0"/>
              <a:t>SINDy-vel → Jól használható forma</a:t>
            </a:r>
          </a:p>
          <a:p>
            <a:pPr lvl="1"/>
            <a:r>
              <a:rPr lang="hu-HU" dirty="0"/>
              <a:t>Neurális hálókkal → Gyors, egyszerű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28140-2A24-1383-93DB-C3A3898B2469}"/>
              </a:ext>
            </a:extLst>
          </p:cNvPr>
          <p:cNvSpPr txBox="1">
            <a:spLocks/>
          </p:cNvSpPr>
          <p:nvPr/>
        </p:nvSpPr>
        <p:spPr>
          <a:xfrm>
            <a:off x="5854308" y="1306286"/>
            <a:ext cx="6337688" cy="47638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SINDy és NN összehasonlítása az adatok egy részén való tanítással</a:t>
            </a:r>
          </a:p>
          <a:p>
            <a:r>
              <a:rPr lang="hu-HU" dirty="0"/>
              <a:t>Komplexebb rendszerek vizsgálata</a:t>
            </a:r>
          </a:p>
          <a:p>
            <a:r>
              <a:rPr lang="hu-HU" dirty="0"/>
              <a:t>Valós mérés készítése</a:t>
            </a:r>
          </a:p>
          <a:p>
            <a:r>
              <a:rPr lang="hu-HU" dirty="0"/>
              <a:t>Más módszerek a diszkrepancia modellezésére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hu-HU" dirty="0"/>
          </a:p>
          <a:p>
            <a:pPr marL="0" indent="0">
              <a:buFont typeface="Arial" panose="020B0604020202020204" pitchFamily="34" charset="0"/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69092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B8868-2AF6-0427-C6CE-150118B64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Köszönöm a figyelmet!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766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459</Words>
  <Application>Microsoft Office PowerPoint</Application>
  <PresentationFormat>Widescreen</PresentationFormat>
  <Paragraphs>116</Paragraphs>
  <Slides>13</Slides>
  <Notes>13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Office Theme</vt:lpstr>
      <vt:lpstr>Dinamikus rendszerek identifikációja és diszkrepancia tanulás</vt:lpstr>
      <vt:lpstr>Motiváció</vt:lpstr>
      <vt:lpstr>Mi az a SINDy?</vt:lpstr>
      <vt:lpstr>Rugó-tömeg-csillapítás rendszer</vt:lpstr>
      <vt:lpstr>SINDy kis zajjal</vt:lpstr>
      <vt:lpstr>Nagy zaj hatása</vt:lpstr>
      <vt:lpstr>Savitzky-Golay szűrés</vt:lpstr>
      <vt:lpstr>SVD és lineáris függőség</vt:lpstr>
      <vt:lpstr>Labda-ejtés rendszer</vt:lpstr>
      <vt:lpstr>Regresszió stabilizálás</vt:lpstr>
      <vt:lpstr>Diszkrepancia tanulás</vt:lpstr>
      <vt:lpstr>Összegzés és folytatás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Gavallér Dávid</dc:creator>
  <cp:lastModifiedBy>Gavallér Dávid</cp:lastModifiedBy>
  <cp:revision>6</cp:revision>
  <dcterms:created xsi:type="dcterms:W3CDTF">2026-05-26T19:14:40Z</dcterms:created>
  <dcterms:modified xsi:type="dcterms:W3CDTF">2026-05-28T08:59:38Z</dcterms:modified>
</cp:coreProperties>
</file>